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69" r:id="rId4"/>
    <p:sldId id="267" r:id="rId5"/>
    <p:sldId id="259" r:id="rId6"/>
    <p:sldId id="271" r:id="rId7"/>
    <p:sldId id="262" r:id="rId8"/>
    <p:sldId id="264" r:id="rId9"/>
    <p:sldId id="266" r:id="rId10"/>
    <p:sldId id="270" r:id="rId11"/>
    <p:sldId id="273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57" d="100"/>
          <a:sy n="57" d="100"/>
        </p:scale>
        <p:origin x="595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60892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5955105"/>
      </p:ext>
    </p:extLst>
  </p:cSld>
  <p:clrMapOvr>
    <a:masterClrMapping/>
  </p:clrMapOvr>
  <p:hf sldNum="0"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280860"/>
      </p:ext>
    </p:extLst>
  </p:cSld>
  <p:clrMapOvr>
    <a:masterClrMapping/>
  </p:clrMapOvr>
  <p:hf sldNum="0"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88450948"/>
      </p:ext>
    </p:extLst>
  </p:cSld>
  <p:clrMapOvr>
    <a:masterClrMapping/>
  </p:clrMapOvr>
  <p:hf sldNum="0"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5/31/2026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59487"/>
      </p:ext>
    </p:extLst>
  </p:cSld>
  <p:clrMapOvr>
    <a:masterClrMapping/>
  </p:clrMapOvr>
  <p:hf sldNum="0"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5/31/2026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796091"/>
      </p:ext>
    </p:extLst>
  </p:cSld>
  <p:clrMapOvr>
    <a:masterClrMapping/>
  </p:clrMapOvr>
  <p:hf sldNum="0"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5/31/2026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766281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090763"/>
      </p:ext>
    </p:extLst>
  </p:cSld>
  <p:clrMapOvr>
    <a:masterClrMapping/>
  </p:clrMapOvr>
  <p:hf sldNum="0"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349591"/>
      </p:ext>
    </p:extLst>
  </p:cSld>
  <p:clrMapOvr>
    <a:masterClrMapping/>
  </p:clrMapOvr>
  <p:hf sldNum="0"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246029"/>
      </p:ext>
    </p:extLst>
  </p:cSld>
  <p:clrMapOvr>
    <a:masterClrMapping/>
  </p:clrMapOvr>
  <p:hf sldNum="0"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4195256"/>
      </p:ext>
    </p:extLst>
  </p:cSld>
  <p:clrMapOvr>
    <a:masterClrMapping/>
  </p:clrMapOvr>
  <p:hf sldNum="0"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967668539"/>
      </p:ext>
    </p:extLst>
  </p:cSld>
  <p:clrMapOvr>
    <a:masterClrMapping/>
  </p:clrMapOvr>
  <p:hf sldNum="0"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5/31/2026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7484248"/>
      </p:ext>
    </p:extLst>
  </p:cSld>
  <p:clrMapOvr>
    <a:masterClrMapping/>
  </p:clrMapOvr>
  <p:hf sldNum="0"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5/31/2026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3069526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5/31/2026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108345"/>
      </p:ext>
    </p:extLst>
  </p:cSld>
  <p:clrMapOvr>
    <a:masterClrMapping/>
  </p:clrMapOvr>
  <p:hf sldNum="0"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1777241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F45AC6-C491-4585-A584-9CE2AF7D5500}" type="datetime1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3903531"/>
      </p:ext>
    </p:extLst>
  </p:cSld>
  <p:clrMapOvr>
    <a:masterClrMapping/>
  </p:clrMapOvr>
  <p:hf sldNum="0" hdr="0" ftr="0" dt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67F45AC6-C491-4585-A584-9CE2AF7D5500}" type="datetime1">
              <a:rPr lang="en-US" smtClean="0"/>
              <a:t>5/31/2026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CC057153-B650-4DEB-B370-79DDCFDCE934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664501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  <p:sldLayoutId id="2147483684" r:id="rId12"/>
    <p:sldLayoutId id="2147483685" r:id="rId13"/>
    <p:sldLayoutId id="2147483686" r:id="rId14"/>
    <p:sldLayoutId id="2147483687" r:id="rId15"/>
    <p:sldLayoutId id="2147483688" r:id="rId16"/>
    <p:sldLayoutId id="2147483689" r:id="rId17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0BA95BB5-BDF2-9A46-175E-B3087DAFBE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84" t="9091" r="29828" b="-1"/>
          <a:stretch>
            <a:fillRect/>
          </a:stretch>
        </p:blipFill>
        <p:spPr>
          <a:xfrm>
            <a:off x="20" y="1"/>
            <a:ext cx="12191980" cy="6857999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2A6E34AF-51A7-BEB4-AF49-F0B98C0CEE6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4506" y="3991500"/>
            <a:ext cx="8837546" cy="1870483"/>
          </a:xfrm>
        </p:spPr>
        <p:txBody>
          <a:bodyPr>
            <a:normAutofit/>
          </a:bodyPr>
          <a:lstStyle/>
          <a:p>
            <a:pPr algn="l"/>
            <a:r>
              <a:rPr lang="es-ES" sz="6000" dirty="0">
                <a:solidFill>
                  <a:srgbClr val="FFFFFF"/>
                </a:solidFill>
              </a:rPr>
              <a:t>Proyecto 3º evaluación 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709D0407-51A1-5CB8-1F4B-E5CA76D73E1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4506" y="5917399"/>
            <a:ext cx="8837546" cy="644789"/>
          </a:xfrm>
        </p:spPr>
        <p:txBody>
          <a:bodyPr>
            <a:normAutofit/>
          </a:bodyPr>
          <a:lstStyle/>
          <a:p>
            <a:pPr algn="l"/>
            <a:r>
              <a:rPr lang="es-ES" sz="2400" dirty="0">
                <a:solidFill>
                  <a:srgbClr val="FFFFFF"/>
                </a:solidFill>
              </a:rPr>
              <a:t>Sergio Ruiz Montesinos</a:t>
            </a:r>
          </a:p>
        </p:txBody>
      </p:sp>
    </p:spTree>
    <p:extLst>
      <p:ext uri="{BB962C8B-B14F-4D97-AF65-F5344CB8AC3E}">
        <p14:creationId xmlns:p14="http://schemas.microsoft.com/office/powerpoint/2010/main" val="41522686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A6C2C86-63BF-47D5-AA3F-905111A238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DABE8799-8532-7701-6DC8-CFDED134B8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s-ES" dirty="0"/>
              <a:t>Que es LoveCode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5A0768-3044-4AA9-A889-D2CAA68C51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FA7ACC0E-AF58-E220-329F-6EA0D8D0D6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5398" y="1115568"/>
            <a:ext cx="6245352" cy="4626864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s-ES" sz="1200" dirty="0"/>
              <a:t>LoveCode es una aplicación web inspirada en el modelo de aplicaciones de perfiles. Permite a programadores y estudiantes de informática descubrir a otros usuarios, mostrar sus tecnologías favoritas, dar </a:t>
            </a:r>
            <a:r>
              <a:rPr lang="es-ES" sz="1200" dirty="0" err="1"/>
              <a:t>likes</a:t>
            </a:r>
            <a:r>
              <a:rPr lang="es-ES" sz="1200" dirty="0"/>
              <a:t> y generar </a:t>
            </a:r>
            <a:r>
              <a:rPr lang="es-ES" sz="1200" dirty="0" err="1"/>
              <a:t>matches</a:t>
            </a:r>
            <a:r>
              <a:rPr lang="es-ES" sz="1200" dirty="0"/>
              <a:t> automáticos cuando dos personas se dan </a:t>
            </a:r>
            <a:r>
              <a:rPr lang="es-ES" sz="1200" dirty="0" err="1"/>
              <a:t>like</a:t>
            </a:r>
            <a:r>
              <a:rPr lang="es-ES" sz="1200" dirty="0"/>
              <a:t> mutuamente.</a:t>
            </a:r>
          </a:p>
        </p:txBody>
      </p:sp>
    </p:spTree>
    <p:extLst>
      <p:ext uri="{BB962C8B-B14F-4D97-AF65-F5344CB8AC3E}">
        <p14:creationId xmlns:p14="http://schemas.microsoft.com/office/powerpoint/2010/main" val="3360183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A72DB3-2515-0B08-0C17-2C3400DD7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Tecnologías utilizadas 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BA68A69-79F4-BC58-A798-D4A5AA077A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1800" dirty="0"/>
              <a:t>Base de datos </a:t>
            </a:r>
          </a:p>
          <a:p>
            <a:r>
              <a:rPr lang="es-ES" sz="1800" dirty="0"/>
              <a:t>MySQL / </a:t>
            </a:r>
            <a:r>
              <a:rPr lang="es-ES" sz="1800" dirty="0" err="1"/>
              <a:t>MariaDB</a:t>
            </a:r>
            <a:endParaRPr lang="es-ES" sz="1800" dirty="0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DBC8479A-7822-BA26-F581-C993BD2A4688}"/>
              </a:ext>
            </a:extLst>
          </p:cNvPr>
          <p:cNvSpPr>
            <a:spLocks noGrp="1"/>
          </p:cNvSpPr>
          <p:nvPr>
            <p:ph type="body" sz="half" idx="15"/>
          </p:nvPr>
        </p:nvSpPr>
        <p:spPr/>
        <p:txBody>
          <a:bodyPr/>
          <a:lstStyle/>
          <a:p>
            <a:pPr algn="l"/>
            <a:r>
              <a:rPr lang="es-ES" dirty="0"/>
              <a:t>Almacena usuarios, tecnologías, </a:t>
            </a:r>
            <a:r>
              <a:rPr lang="es-ES" dirty="0" err="1"/>
              <a:t>likes</a:t>
            </a:r>
            <a:r>
              <a:rPr lang="es-ES" dirty="0"/>
              <a:t>, y </a:t>
            </a:r>
            <a:r>
              <a:rPr lang="es-ES" dirty="0" err="1"/>
              <a:t>matches</a:t>
            </a:r>
            <a:r>
              <a:rPr lang="es-ES" dirty="0"/>
              <a:t>. Incluye un </a:t>
            </a:r>
            <a:r>
              <a:rPr lang="es-ES" dirty="0" err="1"/>
              <a:t>trigger</a:t>
            </a:r>
            <a:r>
              <a:rPr lang="es-ES" dirty="0"/>
              <a:t> automático que genera </a:t>
            </a:r>
            <a:r>
              <a:rPr lang="es-ES" dirty="0" err="1"/>
              <a:t>matches</a:t>
            </a:r>
            <a:r>
              <a:rPr lang="es-ES" dirty="0"/>
              <a:t> cuando dos personas se dan </a:t>
            </a:r>
            <a:r>
              <a:rPr lang="es-ES" dirty="0" err="1"/>
              <a:t>like</a:t>
            </a:r>
            <a:r>
              <a:rPr lang="es-ES" dirty="0"/>
              <a:t> mutuamente. 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F5022496-86F7-E4BF-AFE9-5E6E792D7F4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ES" sz="2000" dirty="0" err="1"/>
              <a:t>Backend</a:t>
            </a:r>
            <a:r>
              <a:rPr lang="es-ES" sz="2000" dirty="0"/>
              <a:t> </a:t>
            </a:r>
          </a:p>
          <a:p>
            <a:r>
              <a:rPr lang="es-ES" sz="2000" dirty="0"/>
              <a:t>Java + Spring </a:t>
            </a:r>
            <a:r>
              <a:rPr lang="es-ES" sz="2000" dirty="0" err="1"/>
              <a:t>boot</a:t>
            </a:r>
            <a:endParaRPr lang="es-ES" sz="2000" dirty="0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DD96E8C4-5E38-22F1-DFE9-879D1BDA4DC2}"/>
              </a:ext>
            </a:extLst>
          </p:cNvPr>
          <p:cNvSpPr>
            <a:spLocks noGrp="1"/>
          </p:cNvSpPr>
          <p:nvPr>
            <p:ph type="body" sz="half" idx="16"/>
          </p:nvPr>
        </p:nvSpPr>
        <p:spPr/>
        <p:txBody>
          <a:bodyPr/>
          <a:lstStyle/>
          <a:p>
            <a:pPr algn="l"/>
            <a:r>
              <a:rPr lang="es-ES" dirty="0"/>
              <a:t>Gestiona el registro, </a:t>
            </a:r>
            <a:r>
              <a:rPr lang="es-ES" dirty="0" err="1"/>
              <a:t>login</a:t>
            </a:r>
            <a:r>
              <a:rPr lang="es-ES" dirty="0"/>
              <a:t>, perfiles, </a:t>
            </a:r>
            <a:r>
              <a:rPr lang="es-ES" dirty="0" err="1"/>
              <a:t>likes</a:t>
            </a:r>
            <a:r>
              <a:rPr lang="es-ES" dirty="0"/>
              <a:t> y </a:t>
            </a:r>
            <a:r>
              <a:rPr lang="es-ES" dirty="0" err="1"/>
              <a:t>matches</a:t>
            </a:r>
            <a:r>
              <a:rPr lang="es-ES" dirty="0"/>
              <a:t> a través de una API REST conectada a la base de datos.</a:t>
            </a:r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F2C14585-6D04-3708-0CEF-4D6B4866FC1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s-ES" sz="2000" dirty="0" err="1"/>
              <a:t>Frontend</a:t>
            </a:r>
            <a:r>
              <a:rPr lang="es-ES" sz="2000" dirty="0"/>
              <a:t> </a:t>
            </a:r>
          </a:p>
          <a:p>
            <a:r>
              <a:rPr lang="es-ES" sz="2000" dirty="0"/>
              <a:t>HTML, CSS y JS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94AB1E29-3C8A-A02B-F503-960BDDE65BB3}"/>
              </a:ext>
            </a:extLst>
          </p:cNvPr>
          <p:cNvSpPr>
            <a:spLocks noGrp="1"/>
          </p:cNvSpPr>
          <p:nvPr>
            <p:ph type="body" sz="half" idx="17"/>
          </p:nvPr>
        </p:nvSpPr>
        <p:spPr/>
        <p:txBody>
          <a:bodyPr/>
          <a:lstStyle/>
          <a:p>
            <a:pPr algn="l"/>
            <a:r>
              <a:rPr lang="es-ES" dirty="0"/>
              <a:t>Siete paginas webs dinámicas que se comunican con el </a:t>
            </a:r>
            <a:r>
              <a:rPr lang="es-ES" dirty="0" err="1"/>
              <a:t>backend</a:t>
            </a:r>
            <a:r>
              <a:rPr lang="es-ES" dirty="0"/>
              <a:t> usando peticiones HTTP desde el navegador. </a:t>
            </a:r>
          </a:p>
        </p:txBody>
      </p:sp>
    </p:spTree>
    <p:extLst>
      <p:ext uri="{BB962C8B-B14F-4D97-AF65-F5344CB8AC3E}">
        <p14:creationId xmlns:p14="http://schemas.microsoft.com/office/powerpoint/2010/main" val="16053038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1B975FB-8612-B95A-3BBF-B7BDDB069C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Base de datos 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E14DC8A-D837-3646-3DB8-48BDD88323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3795" y="1683544"/>
            <a:ext cx="3300984" cy="404812"/>
          </a:xfrm>
        </p:spPr>
        <p:txBody>
          <a:bodyPr/>
          <a:lstStyle/>
          <a:p>
            <a:r>
              <a:rPr lang="es-ES" sz="1800" dirty="0"/>
              <a:t>Tablas 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E3218DA-26CA-4ACF-8354-066A7E6E7C70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913795" y="2309960"/>
            <a:ext cx="3300984" cy="3219450"/>
          </a:xfrm>
        </p:spPr>
        <p:txBody>
          <a:bodyPr>
            <a:normAutofit fontScale="70000" lnSpcReduction="20000"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sz="1500" dirty="0"/>
              <a:t>Usuario </a:t>
            </a:r>
          </a:p>
          <a:p>
            <a:pPr algn="l"/>
            <a:r>
              <a:rPr lang="es-ES" sz="1500" dirty="0"/>
              <a:t>Datos del perfil: nombre, email, ciudad, descripción, estado cuenta…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sz="1500" dirty="0"/>
              <a:t>Tecnología</a:t>
            </a:r>
          </a:p>
          <a:p>
            <a:pPr algn="l"/>
            <a:r>
              <a:rPr lang="es-ES" sz="1500" dirty="0"/>
              <a:t>Catalogo de tecnologías disponibles (java, </a:t>
            </a:r>
            <a:r>
              <a:rPr lang="es-ES" sz="1500" dirty="0" err="1"/>
              <a:t>css</a:t>
            </a:r>
            <a:r>
              <a:rPr lang="es-ES" sz="1500" dirty="0"/>
              <a:t>, </a:t>
            </a:r>
            <a:r>
              <a:rPr lang="es-ES" sz="1500" dirty="0" err="1"/>
              <a:t>html</a:t>
            </a:r>
            <a:r>
              <a:rPr lang="es-ES" sz="1500" dirty="0"/>
              <a:t>…)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sz="1500" dirty="0" err="1"/>
              <a:t>Usuario_tecnologia</a:t>
            </a:r>
            <a:endParaRPr lang="es-ES" sz="1500" dirty="0"/>
          </a:p>
          <a:p>
            <a:pPr algn="l"/>
            <a:r>
              <a:rPr lang="es-ES" sz="1500" dirty="0"/>
              <a:t>Tabla intermedia entre usuario y tecnología. Guarda el nivel de dominio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sz="1500" dirty="0"/>
              <a:t>Likes </a:t>
            </a:r>
          </a:p>
          <a:p>
            <a:pPr algn="l"/>
            <a:r>
              <a:rPr lang="es-ES" sz="1500" dirty="0"/>
              <a:t>Registra cada </a:t>
            </a:r>
            <a:r>
              <a:rPr lang="es-ES" sz="1500" dirty="0" err="1"/>
              <a:t>like</a:t>
            </a:r>
            <a:r>
              <a:rPr lang="es-ES" sz="1500" dirty="0"/>
              <a:t> </a:t>
            </a:r>
            <a:r>
              <a:rPr lang="es-ES" sz="1500" dirty="0" err="1"/>
              <a:t>usuario_manda</a:t>
            </a:r>
            <a:r>
              <a:rPr lang="es-ES" sz="1500" dirty="0"/>
              <a:t> </a:t>
            </a:r>
            <a:r>
              <a:rPr lang="es-ES" sz="1500" dirty="0" err="1"/>
              <a:t>usuario_recibe</a:t>
            </a:r>
            <a:r>
              <a:rPr lang="es-ES" sz="1500" dirty="0"/>
              <a:t> + fecha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sz="1500" dirty="0"/>
              <a:t>Matches </a:t>
            </a:r>
          </a:p>
          <a:p>
            <a:pPr algn="l"/>
            <a:r>
              <a:rPr lang="es-ES" sz="1500" dirty="0"/>
              <a:t>Se rellena automáticamente por el </a:t>
            </a:r>
            <a:r>
              <a:rPr lang="es-ES" sz="1500" dirty="0" err="1"/>
              <a:t>triger</a:t>
            </a:r>
            <a:r>
              <a:rPr lang="es-ES" sz="1500" dirty="0"/>
              <a:t> cuando hay </a:t>
            </a:r>
            <a:r>
              <a:rPr lang="es-ES" sz="1500" dirty="0" err="1"/>
              <a:t>like</a:t>
            </a:r>
            <a:r>
              <a:rPr lang="es-ES" sz="1500" dirty="0"/>
              <a:t> mutuo</a:t>
            </a:r>
          </a:p>
          <a:p>
            <a:pPr algn="l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804BB9F2-14CD-F6A9-9FFC-EBF5E2CDFE0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440183" y="1683544"/>
            <a:ext cx="3300984" cy="404812"/>
          </a:xfrm>
        </p:spPr>
        <p:txBody>
          <a:bodyPr/>
          <a:lstStyle/>
          <a:p>
            <a:r>
              <a:rPr lang="es-ES" sz="1800" dirty="0"/>
              <a:t>Procedimientos almacenados 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BD000F2C-C05A-B310-0804-CB76F7C4FE40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4440183" y="2309960"/>
            <a:ext cx="3300984" cy="3219450"/>
          </a:xfrm>
        </p:spPr>
        <p:txBody>
          <a:bodyPr>
            <a:norm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s-ES" sz="1200" dirty="0"/>
              <a:t>Conteo de </a:t>
            </a:r>
            <a:r>
              <a:rPr lang="es-ES" sz="1200" dirty="0" err="1"/>
              <a:t>matches</a:t>
            </a:r>
            <a:endParaRPr lang="es-ES" sz="1200" dirty="0"/>
          </a:p>
          <a:p>
            <a:pPr algn="l"/>
            <a:r>
              <a:rPr lang="es-ES" sz="1200" dirty="0"/>
              <a:t>Devuelve el numero total de </a:t>
            </a:r>
            <a:r>
              <a:rPr lang="es-ES" sz="1200" dirty="0" err="1"/>
              <a:t>matches</a:t>
            </a:r>
            <a:r>
              <a:rPr lang="es-ES" sz="1200" dirty="0"/>
              <a:t> que tiene un usuario determinado.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s-ES" sz="1200" dirty="0"/>
              <a:t>Carga de datos de usuario</a:t>
            </a:r>
          </a:p>
          <a:p>
            <a:pPr algn="l"/>
            <a:r>
              <a:rPr lang="es-ES" sz="1200" dirty="0"/>
              <a:t>Devuelve todos los datos del perfil de un usuario a partir de su ID.</a:t>
            </a: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s-ES" sz="1200" dirty="0"/>
              <a:t>Borrado de usuario</a:t>
            </a:r>
          </a:p>
          <a:p>
            <a:pPr algn="l"/>
            <a:r>
              <a:rPr lang="es-ES" sz="1200" dirty="0"/>
              <a:t>Elimina un usuario de la base de datos a partir de su identificador.</a:t>
            </a:r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B8BEE5B0-08D3-DB69-AB4A-6DAAA70CF80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955921" y="1683544"/>
            <a:ext cx="3300984" cy="404812"/>
          </a:xfrm>
        </p:spPr>
        <p:txBody>
          <a:bodyPr/>
          <a:lstStyle/>
          <a:p>
            <a:r>
              <a:rPr lang="es-ES" sz="1800" dirty="0"/>
              <a:t>Trigger 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42FBDA0F-F474-9AA7-57E8-2CBF7FDBB782}"/>
              </a:ext>
            </a:extLst>
          </p:cNvPr>
          <p:cNvSpPr>
            <a:spLocks noGrp="1"/>
          </p:cNvSpPr>
          <p:nvPr>
            <p:ph type="body" sz="half" idx="17"/>
          </p:nvPr>
        </p:nvSpPr>
        <p:spPr>
          <a:xfrm>
            <a:off x="7955921" y="2309960"/>
            <a:ext cx="3300984" cy="3219450"/>
          </a:xfrm>
        </p:spPr>
        <p:txBody>
          <a:bodyPr/>
          <a:lstStyle/>
          <a:p>
            <a:pPr algn="l"/>
            <a:r>
              <a:rPr lang="es-ES" dirty="0"/>
              <a:t>Cada vez que alguien le da </a:t>
            </a:r>
            <a:r>
              <a:rPr lang="es-ES" dirty="0" err="1"/>
              <a:t>like</a:t>
            </a:r>
            <a:r>
              <a:rPr lang="es-ES" dirty="0"/>
              <a:t> a un usuario la base de datos lo registra. En ese momento el </a:t>
            </a:r>
            <a:r>
              <a:rPr lang="es-ES" dirty="0" err="1"/>
              <a:t>trigger</a:t>
            </a:r>
            <a:r>
              <a:rPr lang="es-ES" dirty="0"/>
              <a:t> se activa y comprueba si se han dado </a:t>
            </a:r>
            <a:r>
              <a:rPr lang="es-ES" dirty="0" err="1"/>
              <a:t>like</a:t>
            </a:r>
            <a:r>
              <a:rPr lang="es-ES" dirty="0"/>
              <a:t> mutuamente y si se han dado el </a:t>
            </a:r>
            <a:r>
              <a:rPr lang="es-ES" dirty="0" err="1"/>
              <a:t>trigger</a:t>
            </a:r>
            <a:r>
              <a:rPr lang="es-ES" dirty="0"/>
              <a:t> salta y guarda a los dos usuarios en la tabla de </a:t>
            </a:r>
            <a:r>
              <a:rPr lang="es-ES" dirty="0" err="1"/>
              <a:t>matches</a:t>
            </a:r>
            <a:r>
              <a:rPr lang="es-E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944529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7C99635-5633-85D1-FEE4-55E53DAB7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Backend</a:t>
            </a:r>
            <a:r>
              <a:rPr lang="es-ES" dirty="0"/>
              <a:t> 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F95E008-15DA-2127-F3A4-D06721F3CF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2" y="1498988"/>
            <a:ext cx="10124319" cy="1223022"/>
          </a:xfrm>
        </p:spPr>
        <p:txBody>
          <a:bodyPr/>
          <a:lstStyle/>
          <a:p>
            <a:pPr marL="36900" indent="0">
              <a:buNone/>
            </a:pPr>
            <a:r>
              <a:rPr lang="es-ES" sz="1600" dirty="0"/>
              <a:t>El servidor gestiona todas las operaciones: registro, </a:t>
            </a:r>
            <a:r>
              <a:rPr lang="es-ES" sz="1600" dirty="0" err="1"/>
              <a:t>login</a:t>
            </a:r>
            <a:r>
              <a:rPr lang="es-ES" sz="1600" dirty="0"/>
              <a:t>, perfiles, </a:t>
            </a:r>
            <a:r>
              <a:rPr lang="es-ES" sz="1600" dirty="0" err="1"/>
              <a:t>likes</a:t>
            </a:r>
            <a:r>
              <a:rPr lang="es-ES" sz="1600" dirty="0"/>
              <a:t> y </a:t>
            </a:r>
            <a:r>
              <a:rPr lang="es-ES" sz="1600" dirty="0" err="1"/>
              <a:t>matches</a:t>
            </a:r>
            <a:r>
              <a:rPr lang="es-ES" sz="1600" dirty="0"/>
              <a:t>. El </a:t>
            </a:r>
            <a:r>
              <a:rPr lang="es-ES" sz="1600" dirty="0" err="1"/>
              <a:t>frontend</a:t>
            </a:r>
            <a:r>
              <a:rPr lang="es-ES" sz="1600" dirty="0"/>
              <a:t> se comunica con el mediante peticiones HTTP.</a:t>
            </a:r>
          </a:p>
        </p:txBody>
      </p:sp>
      <p:sp>
        <p:nvSpPr>
          <p:cNvPr id="4" name="Marcador de contenido 2">
            <a:extLst>
              <a:ext uri="{FF2B5EF4-FFF2-40B4-BE49-F238E27FC236}">
                <a16:creationId xmlns:a16="http://schemas.microsoft.com/office/drawing/2014/main" id="{21D32ED2-CDD1-2F70-D242-98D215425551}"/>
              </a:ext>
            </a:extLst>
          </p:cNvPr>
          <p:cNvSpPr txBox="1">
            <a:spLocks/>
          </p:cNvSpPr>
          <p:nvPr/>
        </p:nvSpPr>
        <p:spPr>
          <a:xfrm>
            <a:off x="913792" y="2817489"/>
            <a:ext cx="4703237" cy="122302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Font typeface="Wingdings 2" charset="2"/>
              <a:buNone/>
            </a:pPr>
            <a:r>
              <a:rPr lang="es-ES" dirty="0"/>
              <a:t>Registro </a:t>
            </a:r>
          </a:p>
          <a:p>
            <a:pPr marL="36900" indent="0">
              <a:buFont typeface="Wingdings 2" charset="2"/>
              <a:buNone/>
            </a:pPr>
            <a:r>
              <a:rPr lang="es-ES" sz="1600" dirty="0"/>
              <a:t>El usuario completa un formulario y selecciona sus tecnologías. Todo se guarda en la base de datos  </a:t>
            </a:r>
          </a:p>
        </p:txBody>
      </p:sp>
      <p:sp>
        <p:nvSpPr>
          <p:cNvPr id="5" name="Marcador de contenido 2">
            <a:extLst>
              <a:ext uri="{FF2B5EF4-FFF2-40B4-BE49-F238E27FC236}">
                <a16:creationId xmlns:a16="http://schemas.microsoft.com/office/drawing/2014/main" id="{A9EE82FC-CB9D-F1A6-AABF-1A741E23D5D9}"/>
              </a:ext>
            </a:extLst>
          </p:cNvPr>
          <p:cNvSpPr txBox="1">
            <a:spLocks/>
          </p:cNvSpPr>
          <p:nvPr/>
        </p:nvSpPr>
        <p:spPr>
          <a:xfrm>
            <a:off x="6334874" y="2817489"/>
            <a:ext cx="4703237" cy="122302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Font typeface="Wingdings 2" charset="2"/>
              <a:buNone/>
            </a:pPr>
            <a:r>
              <a:rPr lang="es-ES" sz="1600" dirty="0"/>
              <a:t>Login </a:t>
            </a:r>
          </a:p>
          <a:p>
            <a:pPr marL="36900" indent="0">
              <a:buFont typeface="Wingdings 2" charset="2"/>
              <a:buNone/>
            </a:pPr>
            <a:r>
              <a:rPr lang="es-ES" sz="1600" dirty="0"/>
              <a:t>Se comprueba el email y contraseña. Si son correctos, el usuario accede y su sesión queda guardada.</a:t>
            </a:r>
          </a:p>
        </p:txBody>
      </p:sp>
      <p:sp>
        <p:nvSpPr>
          <p:cNvPr id="6" name="Marcador de contenido 2">
            <a:extLst>
              <a:ext uri="{FF2B5EF4-FFF2-40B4-BE49-F238E27FC236}">
                <a16:creationId xmlns:a16="http://schemas.microsoft.com/office/drawing/2014/main" id="{D2EB029F-E630-FE2F-F9E9-30CE72B1DE6E}"/>
              </a:ext>
            </a:extLst>
          </p:cNvPr>
          <p:cNvSpPr txBox="1">
            <a:spLocks/>
          </p:cNvSpPr>
          <p:nvPr/>
        </p:nvSpPr>
        <p:spPr>
          <a:xfrm>
            <a:off x="913792" y="4605405"/>
            <a:ext cx="4703237" cy="122302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Font typeface="Wingdings 2" charset="2"/>
              <a:buNone/>
            </a:pPr>
            <a:r>
              <a:rPr lang="es-ES" sz="1600" dirty="0"/>
              <a:t>Perfiles </a:t>
            </a:r>
          </a:p>
          <a:p>
            <a:pPr marL="36900" indent="0">
              <a:buFont typeface="Wingdings 2" charset="2"/>
              <a:buNone/>
            </a:pPr>
            <a:r>
              <a:rPr lang="es-ES" sz="1600" dirty="0"/>
              <a:t>Se muestran todos los usuarios menos el propio, con su ciudad, descripción y tecnologías.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B54C340D-C8BF-09EA-A80F-7B0F5D44B89A}"/>
              </a:ext>
            </a:extLst>
          </p:cNvPr>
          <p:cNvSpPr txBox="1">
            <a:spLocks/>
          </p:cNvSpPr>
          <p:nvPr/>
        </p:nvSpPr>
        <p:spPr>
          <a:xfrm>
            <a:off x="6334874" y="4605405"/>
            <a:ext cx="4703237" cy="122302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72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102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86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674000" indent="-21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0146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Font typeface="Wingdings 2" charset="2"/>
              <a:buNone/>
            </a:pPr>
            <a:r>
              <a:rPr lang="es-ES" sz="1600" dirty="0"/>
              <a:t>Likes y </a:t>
            </a:r>
            <a:r>
              <a:rPr lang="es-ES" sz="1600" dirty="0" err="1"/>
              <a:t>matches</a:t>
            </a:r>
            <a:r>
              <a:rPr lang="es-ES" sz="1600" dirty="0"/>
              <a:t> </a:t>
            </a:r>
          </a:p>
          <a:p>
            <a:pPr marL="36900" indent="0">
              <a:buFont typeface="Wingdings 2" charset="2"/>
              <a:buNone/>
            </a:pPr>
            <a:r>
              <a:rPr lang="es-ES" sz="1600" dirty="0"/>
              <a:t>Al dar </a:t>
            </a:r>
            <a:r>
              <a:rPr lang="es-ES" sz="1600" dirty="0" err="1"/>
              <a:t>like</a:t>
            </a:r>
            <a:r>
              <a:rPr lang="es-ES" sz="1600" dirty="0"/>
              <a:t> se registra en la base de datos. Si hay </a:t>
            </a:r>
            <a:r>
              <a:rPr lang="es-ES" sz="1600" dirty="0" err="1"/>
              <a:t>like</a:t>
            </a:r>
            <a:r>
              <a:rPr lang="es-ES" sz="1600" dirty="0"/>
              <a:t> mutuo, el </a:t>
            </a:r>
            <a:r>
              <a:rPr lang="es-ES" sz="1600" dirty="0" err="1"/>
              <a:t>trigger</a:t>
            </a:r>
            <a:r>
              <a:rPr lang="es-ES" sz="1600" dirty="0"/>
              <a:t> crea el match </a:t>
            </a:r>
            <a:r>
              <a:rPr lang="es-ES" sz="1600" dirty="0" err="1"/>
              <a:t>automaticamente</a:t>
            </a:r>
            <a:endParaRPr lang="es-ES" sz="1600" dirty="0"/>
          </a:p>
        </p:txBody>
      </p:sp>
    </p:spTree>
    <p:extLst>
      <p:ext uri="{BB962C8B-B14F-4D97-AF65-F5344CB8AC3E}">
        <p14:creationId xmlns:p14="http://schemas.microsoft.com/office/powerpoint/2010/main" val="37065312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D96FD2-D725-D8AB-B48E-9F5BE2A10D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Frontend</a:t>
            </a:r>
            <a:r>
              <a:rPr lang="es-ES" dirty="0"/>
              <a:t> 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C0F455E-12CD-6AD0-0B87-59B50569EFD2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913794" y="2359479"/>
            <a:ext cx="3311634" cy="857250"/>
          </a:xfrm>
        </p:spPr>
        <p:txBody>
          <a:bodyPr/>
          <a:lstStyle/>
          <a:p>
            <a:r>
              <a:rPr lang="es-ES" dirty="0"/>
              <a:t>Inicio </a:t>
            </a:r>
          </a:p>
          <a:p>
            <a:r>
              <a:rPr lang="es-ES" dirty="0"/>
              <a:t>Logo, eslogan y acceso a la app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F3AF3B13-5C6F-E215-E5B9-D88B47840CB8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913794" y="1577878"/>
            <a:ext cx="8964991" cy="463193"/>
          </a:xfrm>
        </p:spPr>
        <p:txBody>
          <a:bodyPr>
            <a:normAutofit/>
          </a:bodyPr>
          <a:lstStyle/>
          <a:p>
            <a:pPr algn="l"/>
            <a:r>
              <a:rPr lang="es-ES" dirty="0"/>
              <a:t>7 paginas web, cada una con su propio archivo </a:t>
            </a:r>
            <a:r>
              <a:rPr lang="es-ES" dirty="0" err="1"/>
              <a:t>Javascript</a:t>
            </a:r>
            <a:r>
              <a:rPr lang="es-ES" dirty="0"/>
              <a:t> y CSS</a:t>
            </a:r>
          </a:p>
        </p:txBody>
      </p:sp>
      <p:sp>
        <p:nvSpPr>
          <p:cNvPr id="9" name="Marcador de texto 3">
            <a:extLst>
              <a:ext uri="{FF2B5EF4-FFF2-40B4-BE49-F238E27FC236}">
                <a16:creationId xmlns:a16="http://schemas.microsoft.com/office/drawing/2014/main" id="{9B6D0883-612A-54B5-00A6-DF4F7FA03C9B}"/>
              </a:ext>
            </a:extLst>
          </p:cNvPr>
          <p:cNvSpPr txBox="1">
            <a:spLocks/>
          </p:cNvSpPr>
          <p:nvPr/>
        </p:nvSpPr>
        <p:spPr>
          <a:xfrm>
            <a:off x="4434859" y="2359479"/>
            <a:ext cx="3311634" cy="8572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s-ES" dirty="0"/>
              <a:t>Login </a:t>
            </a:r>
          </a:p>
          <a:p>
            <a:r>
              <a:rPr lang="es-ES" dirty="0"/>
              <a:t>Formulario con email y contraseña. Si son correctos, guarda el id del usuario y redirige a perfiles  </a:t>
            </a:r>
          </a:p>
        </p:txBody>
      </p:sp>
      <p:sp>
        <p:nvSpPr>
          <p:cNvPr id="10" name="Marcador de texto 3">
            <a:extLst>
              <a:ext uri="{FF2B5EF4-FFF2-40B4-BE49-F238E27FC236}">
                <a16:creationId xmlns:a16="http://schemas.microsoft.com/office/drawing/2014/main" id="{C885E5EE-98E3-82E0-87E4-C84451B86389}"/>
              </a:ext>
            </a:extLst>
          </p:cNvPr>
          <p:cNvSpPr txBox="1">
            <a:spLocks/>
          </p:cNvSpPr>
          <p:nvPr/>
        </p:nvSpPr>
        <p:spPr>
          <a:xfrm>
            <a:off x="7955923" y="2359479"/>
            <a:ext cx="3311634" cy="8572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s-ES" dirty="0"/>
              <a:t>Registro </a:t>
            </a:r>
          </a:p>
          <a:p>
            <a:r>
              <a:rPr lang="es-ES" dirty="0"/>
              <a:t>Formulario y selección de tecnologías </a:t>
            </a:r>
          </a:p>
        </p:txBody>
      </p:sp>
      <p:sp>
        <p:nvSpPr>
          <p:cNvPr id="11" name="Marcador de texto 3">
            <a:extLst>
              <a:ext uri="{FF2B5EF4-FFF2-40B4-BE49-F238E27FC236}">
                <a16:creationId xmlns:a16="http://schemas.microsoft.com/office/drawing/2014/main" id="{2DCD3AC0-1D8D-32D1-457B-D8CD68C4978B}"/>
              </a:ext>
            </a:extLst>
          </p:cNvPr>
          <p:cNvSpPr txBox="1">
            <a:spLocks/>
          </p:cNvSpPr>
          <p:nvPr/>
        </p:nvSpPr>
        <p:spPr>
          <a:xfrm>
            <a:off x="913794" y="3641272"/>
            <a:ext cx="3311634" cy="8572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s-ES" dirty="0"/>
              <a:t>Perfiles </a:t>
            </a:r>
          </a:p>
          <a:p>
            <a:r>
              <a:rPr lang="es-ES" dirty="0"/>
              <a:t>Muestra tarjetas de otros usuarios con botones </a:t>
            </a:r>
            <a:r>
              <a:rPr lang="es-ES" dirty="0" err="1"/>
              <a:t>like</a:t>
            </a:r>
            <a:r>
              <a:rPr lang="es-ES" dirty="0"/>
              <a:t>/match </a:t>
            </a:r>
          </a:p>
        </p:txBody>
      </p:sp>
      <p:sp>
        <p:nvSpPr>
          <p:cNvPr id="12" name="Marcador de texto 3">
            <a:extLst>
              <a:ext uri="{FF2B5EF4-FFF2-40B4-BE49-F238E27FC236}">
                <a16:creationId xmlns:a16="http://schemas.microsoft.com/office/drawing/2014/main" id="{A8EC219F-11E0-A076-B78B-32270BEA27FB}"/>
              </a:ext>
            </a:extLst>
          </p:cNvPr>
          <p:cNvSpPr txBox="1">
            <a:spLocks/>
          </p:cNvSpPr>
          <p:nvPr/>
        </p:nvSpPr>
        <p:spPr>
          <a:xfrm>
            <a:off x="4434859" y="3535137"/>
            <a:ext cx="3311634" cy="8572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s-ES" dirty="0"/>
              <a:t>Mi perfil </a:t>
            </a:r>
          </a:p>
          <a:p>
            <a:r>
              <a:rPr lang="es-ES" dirty="0"/>
              <a:t>Muestra los datos del usuario autenticado </a:t>
            </a:r>
          </a:p>
        </p:txBody>
      </p:sp>
      <p:sp>
        <p:nvSpPr>
          <p:cNvPr id="13" name="Marcador de texto 3">
            <a:extLst>
              <a:ext uri="{FF2B5EF4-FFF2-40B4-BE49-F238E27FC236}">
                <a16:creationId xmlns:a16="http://schemas.microsoft.com/office/drawing/2014/main" id="{A0974FCA-E2C1-81E5-BC1C-B4B169307074}"/>
              </a:ext>
            </a:extLst>
          </p:cNvPr>
          <p:cNvSpPr txBox="1">
            <a:spLocks/>
          </p:cNvSpPr>
          <p:nvPr/>
        </p:nvSpPr>
        <p:spPr>
          <a:xfrm>
            <a:off x="7955923" y="3641272"/>
            <a:ext cx="3311634" cy="8572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s-ES" dirty="0"/>
              <a:t>Likes </a:t>
            </a:r>
          </a:p>
          <a:p>
            <a:r>
              <a:rPr lang="es-ES" dirty="0"/>
              <a:t>Lista de usuarios a los que se ha dado </a:t>
            </a:r>
            <a:r>
              <a:rPr lang="es-ES" dirty="0" err="1"/>
              <a:t>like</a:t>
            </a:r>
            <a:r>
              <a:rPr lang="es-ES" dirty="0"/>
              <a:t>  </a:t>
            </a:r>
          </a:p>
        </p:txBody>
      </p:sp>
      <p:sp>
        <p:nvSpPr>
          <p:cNvPr id="14" name="Marcador de texto 3">
            <a:extLst>
              <a:ext uri="{FF2B5EF4-FFF2-40B4-BE49-F238E27FC236}">
                <a16:creationId xmlns:a16="http://schemas.microsoft.com/office/drawing/2014/main" id="{5E43A481-2C63-4C3E-20B7-561C7A70FB7F}"/>
              </a:ext>
            </a:extLst>
          </p:cNvPr>
          <p:cNvSpPr txBox="1">
            <a:spLocks/>
          </p:cNvSpPr>
          <p:nvPr/>
        </p:nvSpPr>
        <p:spPr>
          <a:xfrm>
            <a:off x="4434859" y="4851497"/>
            <a:ext cx="3311634" cy="8572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s-ES" dirty="0" err="1"/>
              <a:t>Matches</a:t>
            </a:r>
            <a:endParaRPr lang="es-ES" dirty="0"/>
          </a:p>
          <a:p>
            <a:r>
              <a:rPr lang="es-ES" dirty="0"/>
              <a:t>Lista de </a:t>
            </a:r>
            <a:r>
              <a:rPr lang="es-ES" dirty="0" err="1"/>
              <a:t>matches</a:t>
            </a:r>
            <a:r>
              <a:rPr lang="es-ES" dirty="0"/>
              <a:t> conseguidos </a:t>
            </a:r>
          </a:p>
        </p:txBody>
      </p:sp>
    </p:spTree>
    <p:extLst>
      <p:ext uri="{BB962C8B-B14F-4D97-AF65-F5344CB8AC3E}">
        <p14:creationId xmlns:p14="http://schemas.microsoft.com/office/powerpoint/2010/main" val="11445321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C788A6-AD3A-0F45-8BAE-85667D0A5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Como se usa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DBA1B8A-F9B0-7113-0F76-E381D691A5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3795" y="1580050"/>
            <a:ext cx="3300984" cy="576262"/>
          </a:xfrm>
        </p:spPr>
        <p:txBody>
          <a:bodyPr/>
          <a:lstStyle/>
          <a:p>
            <a:r>
              <a:rPr lang="es-ES" sz="1800" dirty="0"/>
              <a:t>Entras en LoveCode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E09C55B-A0D8-F070-A902-7808B0CDE6DA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896609" y="2359343"/>
            <a:ext cx="3300984" cy="576262"/>
          </a:xfrm>
        </p:spPr>
        <p:txBody>
          <a:bodyPr/>
          <a:lstStyle/>
          <a:p>
            <a:pPr algn="l"/>
            <a:r>
              <a:rPr lang="es-ES" dirty="0"/>
              <a:t>Ves la pagina de inicio con el logo y dos botones: iniciar sesión y registrarse.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8ACD62D0-4ADF-7E58-7250-DA6A336EDED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431591" y="1580050"/>
            <a:ext cx="3300984" cy="576262"/>
          </a:xfrm>
        </p:spPr>
        <p:txBody>
          <a:bodyPr/>
          <a:lstStyle/>
          <a:p>
            <a:r>
              <a:rPr lang="es-ES" sz="1800" dirty="0"/>
              <a:t>Creas tu cuenta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F5C5D981-E3CD-74AA-5C7A-B4D4D8FE8482}"/>
              </a:ext>
            </a:extLst>
          </p:cNvPr>
          <p:cNvSpPr>
            <a:spLocks noGrp="1"/>
          </p:cNvSpPr>
          <p:nvPr>
            <p:ph type="body" sz="half" idx="16"/>
          </p:nvPr>
        </p:nvSpPr>
        <p:spPr>
          <a:xfrm>
            <a:off x="4441434" y="2359343"/>
            <a:ext cx="3399545" cy="727710"/>
          </a:xfrm>
        </p:spPr>
        <p:txBody>
          <a:bodyPr>
            <a:normAutofit lnSpcReduction="10000"/>
          </a:bodyPr>
          <a:lstStyle/>
          <a:p>
            <a:pPr algn="l"/>
            <a:r>
              <a:rPr lang="es-ES" dirty="0"/>
              <a:t>Rellenas el formulario con tu nombre, ciudad, email, contraseña… y eliges tus tecnologías.</a:t>
            </a:r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1137EB89-51E8-344D-4171-9B415E18334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025696" y="1580050"/>
            <a:ext cx="3300984" cy="576262"/>
          </a:xfrm>
        </p:spPr>
        <p:txBody>
          <a:bodyPr/>
          <a:lstStyle/>
          <a:p>
            <a:r>
              <a:rPr lang="es-ES" sz="1800" dirty="0"/>
              <a:t>Iniciar sesión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F5352024-11FE-2C56-CFF4-242B366F23A1}"/>
              </a:ext>
            </a:extLst>
          </p:cNvPr>
          <p:cNvSpPr>
            <a:spLocks noGrp="1"/>
          </p:cNvSpPr>
          <p:nvPr>
            <p:ph type="body" sz="half" idx="17"/>
          </p:nvPr>
        </p:nvSpPr>
        <p:spPr>
          <a:xfrm>
            <a:off x="8025696" y="2359343"/>
            <a:ext cx="3182736" cy="445770"/>
          </a:xfrm>
        </p:spPr>
        <p:txBody>
          <a:bodyPr/>
          <a:lstStyle/>
          <a:p>
            <a:pPr algn="l"/>
            <a:r>
              <a:rPr lang="es-ES" dirty="0"/>
              <a:t>Introduces tu email y la contraseña. </a:t>
            </a:r>
          </a:p>
        </p:txBody>
      </p:sp>
      <p:sp>
        <p:nvSpPr>
          <p:cNvPr id="9" name="Marcador de texto 2">
            <a:extLst>
              <a:ext uri="{FF2B5EF4-FFF2-40B4-BE49-F238E27FC236}">
                <a16:creationId xmlns:a16="http://schemas.microsoft.com/office/drawing/2014/main" id="{3BAD857C-D4C6-6BD0-030D-147A3ED18EEF}"/>
              </a:ext>
            </a:extLst>
          </p:cNvPr>
          <p:cNvSpPr txBox="1">
            <a:spLocks/>
          </p:cNvSpPr>
          <p:nvPr/>
        </p:nvSpPr>
        <p:spPr>
          <a:xfrm>
            <a:off x="896609" y="3429000"/>
            <a:ext cx="3300984" cy="57626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400" b="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0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8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s-ES" sz="1800" dirty="0"/>
              <a:t>Ves los perfiles</a:t>
            </a:r>
          </a:p>
        </p:txBody>
      </p:sp>
      <p:sp>
        <p:nvSpPr>
          <p:cNvPr id="10" name="Marcador de texto 3">
            <a:extLst>
              <a:ext uri="{FF2B5EF4-FFF2-40B4-BE49-F238E27FC236}">
                <a16:creationId xmlns:a16="http://schemas.microsoft.com/office/drawing/2014/main" id="{0AC98BE7-484A-0DFF-2AFD-2B59044855E4}"/>
              </a:ext>
            </a:extLst>
          </p:cNvPr>
          <p:cNvSpPr txBox="1">
            <a:spLocks/>
          </p:cNvSpPr>
          <p:nvPr/>
        </p:nvSpPr>
        <p:spPr>
          <a:xfrm>
            <a:off x="896609" y="4208293"/>
            <a:ext cx="3300984" cy="57626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dirty="0"/>
              <a:t>Aparecen tarjetas con otros usuarios: su nombre, ciudad, descripción, tecnologías y nombre de usuario.</a:t>
            </a:r>
          </a:p>
        </p:txBody>
      </p:sp>
      <p:sp>
        <p:nvSpPr>
          <p:cNvPr id="11" name="Marcador de texto 2">
            <a:extLst>
              <a:ext uri="{FF2B5EF4-FFF2-40B4-BE49-F238E27FC236}">
                <a16:creationId xmlns:a16="http://schemas.microsoft.com/office/drawing/2014/main" id="{69A1A1B1-333B-5121-6706-F78F70BEBE4E}"/>
              </a:ext>
            </a:extLst>
          </p:cNvPr>
          <p:cNvSpPr txBox="1">
            <a:spLocks/>
          </p:cNvSpPr>
          <p:nvPr/>
        </p:nvSpPr>
        <p:spPr>
          <a:xfrm>
            <a:off x="4431591" y="3429000"/>
            <a:ext cx="3300984" cy="57626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400" b="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0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8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s-ES" sz="1800" dirty="0"/>
              <a:t>Dar </a:t>
            </a:r>
            <a:r>
              <a:rPr lang="es-ES" sz="1800" dirty="0" err="1"/>
              <a:t>likes</a:t>
            </a:r>
            <a:r>
              <a:rPr lang="es-ES" sz="1800" dirty="0"/>
              <a:t> y </a:t>
            </a:r>
            <a:r>
              <a:rPr lang="es-ES" sz="1800" dirty="0" err="1"/>
              <a:t>matches</a:t>
            </a:r>
            <a:endParaRPr lang="es-ES" sz="1800" dirty="0"/>
          </a:p>
        </p:txBody>
      </p:sp>
      <p:sp>
        <p:nvSpPr>
          <p:cNvPr id="12" name="Marcador de texto 3">
            <a:extLst>
              <a:ext uri="{FF2B5EF4-FFF2-40B4-BE49-F238E27FC236}">
                <a16:creationId xmlns:a16="http://schemas.microsoft.com/office/drawing/2014/main" id="{2D5A8F48-0998-445D-6807-AC5678AB6DF8}"/>
              </a:ext>
            </a:extLst>
          </p:cNvPr>
          <p:cNvSpPr txBox="1">
            <a:spLocks/>
          </p:cNvSpPr>
          <p:nvPr/>
        </p:nvSpPr>
        <p:spPr>
          <a:xfrm>
            <a:off x="4441434" y="4208293"/>
            <a:ext cx="3300984" cy="57626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dirty="0"/>
              <a:t>Pulsar </a:t>
            </a:r>
            <a:r>
              <a:rPr lang="es-ES" dirty="0" err="1"/>
              <a:t>like</a:t>
            </a:r>
            <a:r>
              <a:rPr lang="es-ES" dirty="0"/>
              <a:t> si alguien te interesa. Y cuando dos usuarios se dan </a:t>
            </a:r>
            <a:r>
              <a:rPr lang="es-ES" dirty="0" err="1"/>
              <a:t>like</a:t>
            </a:r>
            <a:r>
              <a:rPr lang="es-ES" dirty="0"/>
              <a:t> mutuamente hay match.</a:t>
            </a:r>
          </a:p>
        </p:txBody>
      </p:sp>
      <p:sp>
        <p:nvSpPr>
          <p:cNvPr id="13" name="Marcador de texto 2">
            <a:extLst>
              <a:ext uri="{FF2B5EF4-FFF2-40B4-BE49-F238E27FC236}">
                <a16:creationId xmlns:a16="http://schemas.microsoft.com/office/drawing/2014/main" id="{B30CD554-D5A8-59C4-CB58-8A2BFDD53F01}"/>
              </a:ext>
            </a:extLst>
          </p:cNvPr>
          <p:cNvSpPr txBox="1">
            <a:spLocks/>
          </p:cNvSpPr>
          <p:nvPr/>
        </p:nvSpPr>
        <p:spPr>
          <a:xfrm>
            <a:off x="8025696" y="3429000"/>
            <a:ext cx="3300984" cy="57626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b">
            <a:no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400" b="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1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20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8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600" b="1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r>
              <a:rPr lang="es-ES" sz="1800" dirty="0"/>
              <a:t>Consultas tus conexiones</a:t>
            </a:r>
          </a:p>
        </p:txBody>
      </p:sp>
      <p:sp>
        <p:nvSpPr>
          <p:cNvPr id="14" name="Marcador de texto 3">
            <a:extLst>
              <a:ext uri="{FF2B5EF4-FFF2-40B4-BE49-F238E27FC236}">
                <a16:creationId xmlns:a16="http://schemas.microsoft.com/office/drawing/2014/main" id="{A6E3B953-D195-2C6F-E82C-5A0325F19138}"/>
              </a:ext>
            </a:extLst>
          </p:cNvPr>
          <p:cNvSpPr txBox="1">
            <a:spLocks/>
          </p:cNvSpPr>
          <p:nvPr/>
        </p:nvSpPr>
        <p:spPr>
          <a:xfrm>
            <a:off x="8025696" y="4208293"/>
            <a:ext cx="3300984" cy="57626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10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None/>
              <a:defRPr sz="9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s-ES" dirty="0"/>
              <a:t>En el menú puedes ver tu perfil, tus </a:t>
            </a:r>
            <a:r>
              <a:rPr lang="es-ES" dirty="0" err="1"/>
              <a:t>likes</a:t>
            </a:r>
            <a:r>
              <a:rPr lang="es-ES" dirty="0"/>
              <a:t> dados y tus </a:t>
            </a:r>
            <a:r>
              <a:rPr lang="es-ES" dirty="0" err="1"/>
              <a:t>matches</a:t>
            </a:r>
            <a:r>
              <a:rPr lang="es-E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699913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8C83CDE-0A1C-0C41-BB1C-2FCBF8EA0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Entornos de desarrollo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D8150B7-AB23-2BF1-0251-47B05EC67E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2000" dirty="0"/>
              <a:t>Repositorio </a:t>
            </a:r>
            <a:r>
              <a:rPr lang="es-ES" sz="2000" dirty="0" err="1"/>
              <a:t>git</a:t>
            </a:r>
            <a:r>
              <a:rPr lang="es-ES" sz="2000" dirty="0"/>
              <a:t> 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6D7CBC65-E802-35EE-40F1-1D8547707A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ES" sz="2000" dirty="0"/>
              <a:t>Pruebas del proyecto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AE5480D9-2393-6E00-14C8-B2C2688BAE99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pPr marL="36900" indent="0">
              <a:buNone/>
            </a:pPr>
            <a:r>
              <a:rPr lang="es-ES" dirty="0"/>
              <a:t>También he hecho pruebas automáticas para comprobar que las partes mas importantes de la app funcionan bien.</a:t>
            </a:r>
          </a:p>
          <a:p>
            <a:pPr marL="36900" indent="0">
              <a:buNone/>
            </a:pPr>
            <a:r>
              <a:rPr lang="es-ES" dirty="0"/>
              <a:t>Login correcto</a:t>
            </a:r>
          </a:p>
          <a:p>
            <a:pPr marL="36900" indent="0">
              <a:buNone/>
            </a:pPr>
            <a:r>
              <a:rPr lang="es-ES" dirty="0"/>
              <a:t>Login incorrecto </a:t>
            </a:r>
          </a:p>
          <a:p>
            <a:pPr marL="36900" indent="0">
              <a:buNone/>
            </a:pPr>
            <a:r>
              <a:rPr lang="es-ES" dirty="0"/>
              <a:t>Registro correcto </a:t>
            </a:r>
          </a:p>
          <a:p>
            <a:pPr marL="36900" indent="0">
              <a:buNone/>
            </a:pPr>
            <a:r>
              <a:rPr lang="es-ES" dirty="0"/>
              <a:t>Registro incorrecto </a:t>
            </a:r>
          </a:p>
          <a:p>
            <a:pPr marL="36900" indent="0">
              <a:buNone/>
            </a:pPr>
            <a:r>
              <a:rPr lang="es-ES" dirty="0"/>
              <a:t>Like correcto</a:t>
            </a:r>
          </a:p>
          <a:p>
            <a:pPr marL="36900" indent="0">
              <a:buNone/>
            </a:pPr>
            <a:r>
              <a:rPr lang="es-ES" dirty="0"/>
              <a:t>Like incorrecto</a:t>
            </a:r>
          </a:p>
        </p:txBody>
      </p:sp>
      <p:pic>
        <p:nvPicPr>
          <p:cNvPr id="14" name="Marcador de contenido 13">
            <a:extLst>
              <a:ext uri="{FF2B5EF4-FFF2-40B4-BE49-F238E27FC236}">
                <a16:creationId xmlns:a16="http://schemas.microsoft.com/office/drawing/2014/main" id="{1EF183FB-B9D7-3885-964D-7870B055D0C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2380137"/>
            <a:ext cx="5075525" cy="347964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998842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71CFC9-8603-9B0C-5D1D-463AA5FF7B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Sistemas informáticos 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8288B85-97E4-36CC-02D0-5D12C57E76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sz="2000" dirty="0"/>
              <a:t>Maquina virtual Debian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04484FD-CA8B-364E-7947-EACA77C49180}"/>
              </a:ext>
            </a:extLst>
          </p:cNvPr>
          <p:cNvSpPr>
            <a:spLocks noGrp="1"/>
          </p:cNvSpPr>
          <p:nvPr>
            <p:ph type="body" sz="half" idx="15"/>
          </p:nvPr>
        </p:nvSpPr>
        <p:spPr/>
        <p:txBody>
          <a:bodyPr>
            <a:normAutofit/>
          </a:bodyPr>
          <a:lstStyle/>
          <a:p>
            <a:pPr algn="l"/>
            <a:r>
              <a:rPr lang="es-ES" sz="1200" dirty="0"/>
              <a:t>La base de datos </a:t>
            </a:r>
            <a:r>
              <a:rPr lang="es-ES" sz="1200" dirty="0" err="1"/>
              <a:t>MariaDB</a:t>
            </a:r>
            <a:r>
              <a:rPr lang="es-ES" sz="1200" dirty="0"/>
              <a:t> esta instalada en una maquina virtual con sistema operativo Debian. Es accesible desde la maquina anfitriona mediante la IP 192.168.220.129 y el puerto 3306.</a:t>
            </a:r>
          </a:p>
          <a:p>
            <a:pPr algn="l"/>
            <a:r>
              <a:rPr lang="es-ES" sz="1200" dirty="0"/>
              <a:t>Se han creado 3 usuarios con permisos diferenciados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sz="1200" dirty="0"/>
              <a:t>Root:  todos los privilegios 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sz="1200" dirty="0"/>
              <a:t>Desarrollador: permisos para hacer SELECT, INSERT, UPDATE, DELETE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s-ES" sz="1200" dirty="0"/>
              <a:t>Lector: solo SELECT </a:t>
            </a:r>
          </a:p>
        </p:txBody>
      </p:sp>
      <p:sp>
        <p:nvSpPr>
          <p:cNvPr id="7" name="Marcador de texto 6">
            <a:extLst>
              <a:ext uri="{FF2B5EF4-FFF2-40B4-BE49-F238E27FC236}">
                <a16:creationId xmlns:a16="http://schemas.microsoft.com/office/drawing/2014/main" id="{44E46AE4-E914-F163-8CA6-639237B4ED3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99280" y="1885950"/>
            <a:ext cx="4522511" cy="576262"/>
          </a:xfrm>
        </p:spPr>
        <p:txBody>
          <a:bodyPr/>
          <a:lstStyle/>
          <a:p>
            <a:r>
              <a:rPr lang="es-ES" sz="2000" dirty="0" err="1"/>
              <a:t>Backup</a:t>
            </a:r>
            <a:r>
              <a:rPr lang="es-ES" sz="2000" dirty="0"/>
              <a:t> de la base de datos </a:t>
            </a:r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82C7E25D-B72B-1287-96C2-750B234BFF33}"/>
              </a:ext>
            </a:extLst>
          </p:cNvPr>
          <p:cNvSpPr>
            <a:spLocks noGrp="1"/>
          </p:cNvSpPr>
          <p:nvPr>
            <p:ph type="body" sz="half" idx="17"/>
          </p:nvPr>
        </p:nvSpPr>
        <p:spPr>
          <a:xfrm>
            <a:off x="4899281" y="2571749"/>
            <a:ext cx="6640678" cy="1606711"/>
          </a:xfrm>
        </p:spPr>
        <p:txBody>
          <a:bodyPr>
            <a:normAutofit/>
          </a:bodyPr>
          <a:lstStyle/>
          <a:p>
            <a:pPr algn="l"/>
            <a:r>
              <a:rPr lang="es-ES" dirty="0"/>
              <a:t>Se realizo el </a:t>
            </a:r>
            <a:r>
              <a:rPr lang="es-ES" dirty="0" err="1"/>
              <a:t>backup</a:t>
            </a:r>
            <a:r>
              <a:rPr lang="es-ES" dirty="0"/>
              <a:t> con </a:t>
            </a:r>
            <a:r>
              <a:rPr lang="es-ES" dirty="0" err="1"/>
              <a:t>mysqldump</a:t>
            </a:r>
            <a:r>
              <a:rPr lang="es-ES" dirty="0"/>
              <a:t> y se subió al repositorio en la carpeta base de datos. El script de </a:t>
            </a:r>
            <a:r>
              <a:rPr lang="es-ES" dirty="0" err="1"/>
              <a:t>backup</a:t>
            </a:r>
            <a:r>
              <a:rPr lang="es-ES" dirty="0"/>
              <a:t> esta desarrollado desde la terminal de la maquina virtual y genera un archivo .</a:t>
            </a:r>
            <a:r>
              <a:rPr lang="es-ES" dirty="0" err="1"/>
              <a:t>sql</a:t>
            </a:r>
            <a:r>
              <a:rPr lang="es-ES" dirty="0"/>
              <a:t>. Se intento automatizar con cron en Debian, pero surgieron errores de compatibilidad por lo que el </a:t>
            </a:r>
            <a:r>
              <a:rPr lang="es-ES" dirty="0" err="1"/>
              <a:t>backup</a:t>
            </a:r>
            <a:r>
              <a:rPr lang="es-ES" dirty="0"/>
              <a:t> lo he hecho con el comando </a:t>
            </a:r>
            <a:r>
              <a:rPr lang="es-ES" dirty="0" err="1"/>
              <a:t>mysqldump</a:t>
            </a:r>
            <a:r>
              <a:rPr lang="es-E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2329689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9A6C2C86-63BF-47D5-AA3F-905111A238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0C9D895-F6F3-DD79-6CE2-2128F79941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3600" dirty="0" err="1"/>
              <a:t>Conclusión</a:t>
            </a:r>
            <a:r>
              <a:rPr lang="en-US" sz="3600" dirty="0"/>
              <a:t> 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25A0768-3044-4AA9-A889-D2CAA68C51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A5DB06F0-E956-4CC9-B331-F9C0EA6857E5}"/>
              </a:ext>
            </a:extLst>
          </p:cNvPr>
          <p:cNvSpPr>
            <a:spLocks noGrp="1"/>
          </p:cNvSpPr>
          <p:nvPr>
            <p:ph type="body" sz="half" idx="15"/>
          </p:nvPr>
        </p:nvSpPr>
        <p:spPr>
          <a:xfrm>
            <a:off x="5105398" y="1115568"/>
            <a:ext cx="6245352" cy="462686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dirty="0"/>
              <a:t>El </a:t>
            </a:r>
            <a:r>
              <a:rPr lang="en-US" dirty="0" err="1"/>
              <a:t>desarrollo</a:t>
            </a:r>
            <a:r>
              <a:rPr lang="en-US" dirty="0"/>
              <a:t> de </a:t>
            </a:r>
            <a:r>
              <a:rPr lang="en-US" dirty="0" err="1"/>
              <a:t>LoveCode</a:t>
            </a:r>
            <a:r>
              <a:rPr lang="en-US" dirty="0"/>
              <a:t> ha </a:t>
            </a:r>
            <a:r>
              <a:rPr lang="en-US" dirty="0" err="1"/>
              <a:t>permitido</a:t>
            </a:r>
            <a:r>
              <a:rPr lang="en-US" dirty="0"/>
              <a:t> </a:t>
            </a:r>
            <a:r>
              <a:rPr lang="en-US" dirty="0" err="1"/>
              <a:t>poner</a:t>
            </a:r>
            <a:r>
              <a:rPr lang="en-US" dirty="0"/>
              <a:t> </a:t>
            </a:r>
            <a:r>
              <a:rPr lang="en-US" dirty="0" err="1"/>
              <a:t>en</a:t>
            </a:r>
            <a:r>
              <a:rPr lang="en-US" dirty="0"/>
              <a:t> practica de forma </a:t>
            </a:r>
            <a:r>
              <a:rPr lang="en-US" dirty="0" err="1"/>
              <a:t>integrada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conocimientos</a:t>
            </a:r>
            <a:r>
              <a:rPr lang="en-US" dirty="0"/>
              <a:t> de </a:t>
            </a:r>
            <a:r>
              <a:rPr lang="en-US" dirty="0" err="1"/>
              <a:t>todos</a:t>
            </a:r>
            <a:r>
              <a:rPr lang="en-US" dirty="0"/>
              <a:t> </a:t>
            </a:r>
            <a:r>
              <a:rPr lang="en-US" dirty="0" err="1"/>
              <a:t>los</a:t>
            </a:r>
            <a:r>
              <a:rPr lang="en-US" dirty="0"/>
              <a:t> </a:t>
            </a:r>
            <a:r>
              <a:rPr lang="en-US" dirty="0" err="1"/>
              <a:t>módulos</a:t>
            </a:r>
            <a:r>
              <a:rPr lang="en-US" dirty="0"/>
              <a:t> </a:t>
            </a:r>
            <a:r>
              <a:rPr lang="en-US" dirty="0" err="1"/>
              <a:t>implicados</a:t>
            </a:r>
            <a:r>
              <a:rPr lang="en-US" dirty="0"/>
              <a:t>: </a:t>
            </a:r>
            <a:r>
              <a:rPr lang="en-US" dirty="0" err="1"/>
              <a:t>diseño</a:t>
            </a:r>
            <a:r>
              <a:rPr lang="en-US" dirty="0"/>
              <a:t> de bases de </a:t>
            </a:r>
            <a:r>
              <a:rPr lang="en-US" dirty="0" err="1"/>
              <a:t>datos</a:t>
            </a:r>
            <a:r>
              <a:rPr lang="en-US" dirty="0"/>
              <a:t> </a:t>
            </a:r>
            <a:r>
              <a:rPr lang="en-US" dirty="0" err="1"/>
              <a:t>relacionales</a:t>
            </a:r>
            <a:r>
              <a:rPr lang="en-US" dirty="0"/>
              <a:t> con triggers y </a:t>
            </a:r>
            <a:r>
              <a:rPr lang="en-US" dirty="0" err="1"/>
              <a:t>procedimientos</a:t>
            </a:r>
            <a:r>
              <a:rPr lang="en-US" dirty="0"/>
              <a:t> </a:t>
            </a:r>
            <a:r>
              <a:rPr lang="en-US" dirty="0" err="1"/>
              <a:t>almacenados</a:t>
            </a:r>
            <a:r>
              <a:rPr lang="en-US" dirty="0"/>
              <a:t>, </a:t>
            </a:r>
            <a:r>
              <a:rPr lang="en-US" dirty="0" err="1"/>
              <a:t>desarrollo</a:t>
            </a:r>
            <a:r>
              <a:rPr lang="en-US" dirty="0"/>
              <a:t> de </a:t>
            </a:r>
            <a:r>
              <a:rPr lang="en-US" dirty="0" err="1"/>
              <a:t>una</a:t>
            </a:r>
            <a:r>
              <a:rPr lang="en-US" dirty="0"/>
              <a:t> API REST con Java y </a:t>
            </a:r>
            <a:r>
              <a:rPr lang="en-US" dirty="0" err="1"/>
              <a:t>SpringBoot</a:t>
            </a:r>
            <a:r>
              <a:rPr lang="en-US" dirty="0"/>
              <a:t>, </a:t>
            </a:r>
            <a:r>
              <a:rPr lang="en-US" dirty="0" err="1"/>
              <a:t>creación</a:t>
            </a:r>
            <a:r>
              <a:rPr lang="en-US" dirty="0"/>
              <a:t> de </a:t>
            </a:r>
            <a:r>
              <a:rPr lang="en-US" dirty="0" err="1"/>
              <a:t>una</a:t>
            </a:r>
            <a:r>
              <a:rPr lang="en-US" dirty="0"/>
              <a:t> </a:t>
            </a:r>
            <a:r>
              <a:rPr lang="en-US" dirty="0" err="1"/>
              <a:t>interfaz</a:t>
            </a:r>
            <a:r>
              <a:rPr lang="en-US" dirty="0"/>
              <a:t> web </a:t>
            </a:r>
            <a:r>
              <a:rPr lang="en-US" dirty="0" err="1"/>
              <a:t>dinámica</a:t>
            </a:r>
            <a:r>
              <a:rPr lang="en-US" dirty="0"/>
              <a:t> con JavaScript y control de </a:t>
            </a:r>
            <a:r>
              <a:rPr lang="en-US" dirty="0" err="1"/>
              <a:t>versiones</a:t>
            </a:r>
            <a:r>
              <a:rPr lang="en-US" dirty="0"/>
              <a:t> con Git.</a:t>
            </a:r>
          </a:p>
        </p:txBody>
      </p:sp>
    </p:spTree>
    <p:extLst>
      <p:ext uri="{BB962C8B-B14F-4D97-AF65-F5344CB8AC3E}">
        <p14:creationId xmlns:p14="http://schemas.microsoft.com/office/powerpoint/2010/main" val="20839287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2">
                <a:shade val="80000"/>
                <a:lumMod val="80000"/>
              </a:schemeClr>
              <a:schemeClr val="bg2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F427B9-E1A1-41FD-5D3D-9E9D9B88607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70693" y="4477814"/>
            <a:ext cx="9440034" cy="1017059"/>
          </a:xfrm>
        </p:spPr>
        <p:txBody>
          <a:bodyPr>
            <a:normAutofit/>
          </a:bodyPr>
          <a:lstStyle/>
          <a:p>
            <a:r>
              <a:rPr lang="es-ES" sz="4800"/>
              <a:t>Gracias</a:t>
            </a:r>
          </a:p>
        </p:txBody>
      </p:sp>
      <p:pic>
        <p:nvPicPr>
          <p:cNvPr id="6" name="Graphic 5" descr="Smiling Face with No Fill">
            <a:extLst>
              <a:ext uri="{FF2B5EF4-FFF2-40B4-BE49-F238E27FC236}">
                <a16:creationId xmlns:a16="http://schemas.microsoft.com/office/drawing/2014/main" id="{DF7499A7-D996-866D-AD2E-21B8D3CB45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93378" y="1064806"/>
            <a:ext cx="2782808" cy="2782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395048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izarra">
  <a:themeElements>
    <a:clrScheme name="Pizarra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Pizarra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izarra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Pizarra</Template>
  <TotalTime>742</TotalTime>
  <Words>858</Words>
  <Application>Microsoft Office PowerPoint</Application>
  <PresentationFormat>Panorámica</PresentationFormat>
  <Paragraphs>96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Arial</vt:lpstr>
      <vt:lpstr>Calisto MT</vt:lpstr>
      <vt:lpstr>Wingdings 2</vt:lpstr>
      <vt:lpstr>Pizarra</vt:lpstr>
      <vt:lpstr>Proyecto 3º evaluación </vt:lpstr>
      <vt:lpstr>Que es LoveCode</vt:lpstr>
      <vt:lpstr>Tecnologías utilizadas </vt:lpstr>
      <vt:lpstr>Base de datos </vt:lpstr>
      <vt:lpstr>Backend </vt:lpstr>
      <vt:lpstr>Frontend </vt:lpstr>
      <vt:lpstr>Como se usa</vt:lpstr>
      <vt:lpstr>Entornos de desarrollo</vt:lpstr>
      <vt:lpstr>Sistemas informáticos </vt:lpstr>
      <vt:lpstr>Conclusión </vt:lpstr>
      <vt:lpstr>Gracias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SERGIO RUIZ MONTESINOS</dc:creator>
  <cp:lastModifiedBy>SERGIO RUIZ MONTESINOS</cp:lastModifiedBy>
  <cp:revision>8</cp:revision>
  <dcterms:created xsi:type="dcterms:W3CDTF">2026-05-28T06:24:34Z</dcterms:created>
  <dcterms:modified xsi:type="dcterms:W3CDTF">2026-05-31T16:14:57Z</dcterms:modified>
</cp:coreProperties>
</file>