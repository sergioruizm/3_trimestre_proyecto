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69" r:id="rId4"/>
    <p:sldId id="267" r:id="rId5"/>
    <p:sldId id="259" r:id="rId6"/>
    <p:sldId id="271" r:id="rId7"/>
    <p:sldId id="262" r:id="rId8"/>
    <p:sldId id="264" r:id="rId9"/>
    <p:sldId id="266" r:id="rId10"/>
    <p:sldId id="270" r:id="rId11"/>
    <p:sldId id="27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66" d="100"/>
          <a:sy n="66" d="100"/>
        </p:scale>
        <p:origin x="374" y="4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60892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95510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28086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45094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5948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79609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66281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09076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34959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24602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19525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6766853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48424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06952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10834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77724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903531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67F45AC6-C491-4585-A584-9CE2AF7D5500}" type="datetime1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6450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emf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BA95BB5-BDF2-9A46-175E-B3087DAFBE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4" t="9091" r="29828" b="-1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A6E34AF-51A7-BEB4-AF49-F0B98C0CEE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506" y="3991500"/>
            <a:ext cx="8837546" cy="1870483"/>
          </a:xfrm>
        </p:spPr>
        <p:txBody>
          <a:bodyPr>
            <a:normAutofit/>
          </a:bodyPr>
          <a:lstStyle/>
          <a:p>
            <a:pPr algn="l"/>
            <a:r>
              <a:rPr lang="es-ES" sz="6000" dirty="0">
                <a:solidFill>
                  <a:srgbClr val="FFFFFF"/>
                </a:solidFill>
              </a:rPr>
              <a:t>Proyecto 3º evaluación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09D0407-51A1-5CB8-1F4B-E5CA76D73E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4506" y="5917399"/>
            <a:ext cx="8837546" cy="644789"/>
          </a:xfrm>
        </p:spPr>
        <p:txBody>
          <a:bodyPr>
            <a:normAutofit/>
          </a:bodyPr>
          <a:lstStyle/>
          <a:p>
            <a:pPr algn="l"/>
            <a:r>
              <a:rPr lang="es-ES" sz="2400" dirty="0">
                <a:solidFill>
                  <a:srgbClr val="FFFFFF"/>
                </a:solidFill>
              </a:rPr>
              <a:t>Sergio Ruiz Montesinos</a:t>
            </a:r>
          </a:p>
        </p:txBody>
      </p:sp>
      <p:pic>
        <p:nvPicPr>
          <p:cNvPr id="4" name="Picture 2" descr="🚀En XTART FP (Grupo UAX) nuestro equipo conecta talento y empleo  transformando vidas a través de la formación. | Paula P.">
            <a:extLst>
              <a:ext uri="{FF2B5EF4-FFF2-40B4-BE49-F238E27FC236}">
                <a16:creationId xmlns:a16="http://schemas.microsoft.com/office/drawing/2014/main" id="{B1738C1E-B734-A883-889F-C7686DEE1D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7891" y="5511224"/>
            <a:ext cx="824208" cy="812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FF84CF5-5047-29D2-8078-612697D51FA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4745" y="5989128"/>
            <a:ext cx="1081415" cy="33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2686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A6C2C86-63BF-47D5-AA3F-905111A23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ABE8799-8532-7701-6DC8-CFDED134B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013" y="1115568"/>
            <a:ext cx="3487616" cy="4626864"/>
          </a:xfrm>
        </p:spPr>
        <p:txBody>
          <a:bodyPr>
            <a:normAutofit/>
          </a:bodyPr>
          <a:lstStyle/>
          <a:p>
            <a:pPr algn="l"/>
            <a:r>
              <a:rPr lang="es-ES" dirty="0"/>
              <a:t>Que es LoveCode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25A0768-3044-4AA9-A889-D2CAA68C5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605" y="2057400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A7ACC0E-AF58-E220-329F-6EA0D8D0D6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398" y="1115568"/>
            <a:ext cx="6245352" cy="462686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sz="1200" dirty="0"/>
              <a:t>LoveCode es una aplicación web inspirada en el modelo de aplicaciones de perfiles. Permite a programadores y estudiantes de informática descubrir a otros usuarios, mostrar sus tecnologías favoritas, dar </a:t>
            </a:r>
            <a:r>
              <a:rPr lang="es-ES" sz="1200" dirty="0" err="1"/>
              <a:t>likes</a:t>
            </a:r>
            <a:r>
              <a:rPr lang="es-ES" sz="1200" dirty="0"/>
              <a:t> y generar </a:t>
            </a:r>
            <a:r>
              <a:rPr lang="es-ES" sz="1200" dirty="0" err="1"/>
              <a:t>matches</a:t>
            </a:r>
            <a:r>
              <a:rPr lang="es-ES" sz="1200" dirty="0"/>
              <a:t> automáticos cuando dos personas se dan </a:t>
            </a:r>
            <a:r>
              <a:rPr lang="es-ES" sz="1200" dirty="0" err="1"/>
              <a:t>like</a:t>
            </a:r>
            <a:r>
              <a:rPr lang="es-ES" sz="1200" dirty="0"/>
              <a:t> mutuamente.</a:t>
            </a:r>
          </a:p>
        </p:txBody>
      </p:sp>
      <p:pic>
        <p:nvPicPr>
          <p:cNvPr id="4" name="Picture 2" descr="🚀En XTART FP (Grupo UAX) nuestro equipo conecta talento y empleo  transformando vidas a través de la formación. | Paula P.">
            <a:extLst>
              <a:ext uri="{FF2B5EF4-FFF2-40B4-BE49-F238E27FC236}">
                <a16:creationId xmlns:a16="http://schemas.microsoft.com/office/drawing/2014/main" id="{D8DA67CD-5C64-733E-6C52-50E0B3B62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2546" y="5692405"/>
            <a:ext cx="824208" cy="812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60B1C50-BD8C-B498-7AF4-0F044A8A53C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400" y="6170309"/>
            <a:ext cx="1081415" cy="33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18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A72DB3-2515-0B08-0C17-2C3400DD7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Tecnologías utilizadas 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BA68A69-79F4-BC58-A798-D4A5AA077A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800" dirty="0"/>
              <a:t>Base de datos </a:t>
            </a:r>
          </a:p>
          <a:p>
            <a:r>
              <a:rPr lang="es-ES" sz="1800" dirty="0"/>
              <a:t>MySQL / </a:t>
            </a:r>
            <a:r>
              <a:rPr lang="es-ES" sz="1800" dirty="0" err="1"/>
              <a:t>MariaDB</a:t>
            </a:r>
            <a:endParaRPr lang="es-ES" sz="1800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BC8479A-7822-BA26-F581-C993BD2A4688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pPr algn="l"/>
            <a:r>
              <a:rPr lang="es-ES" dirty="0"/>
              <a:t>Almacena usuarios, tecnologías, </a:t>
            </a:r>
            <a:r>
              <a:rPr lang="es-ES" dirty="0" err="1"/>
              <a:t>likes</a:t>
            </a:r>
            <a:r>
              <a:rPr lang="es-ES" dirty="0"/>
              <a:t>, y </a:t>
            </a:r>
            <a:r>
              <a:rPr lang="es-ES" dirty="0" err="1"/>
              <a:t>matches</a:t>
            </a:r>
            <a:r>
              <a:rPr lang="es-ES" dirty="0"/>
              <a:t>. Incluye un </a:t>
            </a:r>
            <a:r>
              <a:rPr lang="es-ES" dirty="0" err="1"/>
              <a:t>trigger</a:t>
            </a:r>
            <a:r>
              <a:rPr lang="es-ES" dirty="0"/>
              <a:t> automático que genera </a:t>
            </a:r>
            <a:r>
              <a:rPr lang="es-ES" dirty="0" err="1"/>
              <a:t>matches</a:t>
            </a:r>
            <a:r>
              <a:rPr lang="es-ES" dirty="0"/>
              <a:t> cuando dos personas se dan </a:t>
            </a:r>
            <a:r>
              <a:rPr lang="es-ES" dirty="0" err="1"/>
              <a:t>like</a:t>
            </a:r>
            <a:r>
              <a:rPr lang="es-ES" dirty="0"/>
              <a:t> mutuamente. 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5022496-86F7-E4BF-AFE9-5E6E792D7F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ES" sz="2000" dirty="0" err="1"/>
              <a:t>Backend</a:t>
            </a:r>
            <a:r>
              <a:rPr lang="es-ES" sz="2000" dirty="0"/>
              <a:t> </a:t>
            </a:r>
          </a:p>
          <a:p>
            <a:r>
              <a:rPr lang="es-ES" sz="2000" dirty="0"/>
              <a:t>Java + Spring </a:t>
            </a:r>
            <a:r>
              <a:rPr lang="es-ES" sz="2000" dirty="0" err="1"/>
              <a:t>boot</a:t>
            </a:r>
            <a:endParaRPr lang="es-ES" sz="2000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D96E8C4-5E38-22F1-DFE9-879D1BDA4DC2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/>
          <a:lstStyle/>
          <a:p>
            <a:pPr algn="l"/>
            <a:r>
              <a:rPr lang="es-ES" dirty="0"/>
              <a:t>Gestiona el registro, </a:t>
            </a:r>
            <a:r>
              <a:rPr lang="es-ES" dirty="0" err="1"/>
              <a:t>login</a:t>
            </a:r>
            <a:r>
              <a:rPr lang="es-ES" dirty="0"/>
              <a:t>, perfiles, </a:t>
            </a:r>
            <a:r>
              <a:rPr lang="es-ES" dirty="0" err="1"/>
              <a:t>likes</a:t>
            </a:r>
            <a:r>
              <a:rPr lang="es-ES" dirty="0"/>
              <a:t> y </a:t>
            </a:r>
            <a:r>
              <a:rPr lang="es-ES" dirty="0" err="1"/>
              <a:t>matches</a:t>
            </a:r>
            <a:r>
              <a:rPr lang="es-ES" dirty="0"/>
              <a:t> a través de una API REST conectada a la base de datos.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F2C14585-6D04-3708-0CEF-4D6B4866FC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" sz="2000" dirty="0" err="1"/>
              <a:t>Frontend</a:t>
            </a:r>
            <a:r>
              <a:rPr lang="es-ES" sz="2000" dirty="0"/>
              <a:t> </a:t>
            </a:r>
          </a:p>
          <a:p>
            <a:r>
              <a:rPr lang="es-ES" sz="2000" dirty="0"/>
              <a:t>HTML, CSS y JS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94AB1E29-3C8A-A02B-F503-960BDDE65BB3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pPr algn="l"/>
            <a:r>
              <a:rPr lang="es-ES" dirty="0"/>
              <a:t>Siete paginas webs dinámicas que se comunican con el </a:t>
            </a:r>
            <a:r>
              <a:rPr lang="es-ES" dirty="0" err="1"/>
              <a:t>backend</a:t>
            </a:r>
            <a:r>
              <a:rPr lang="es-ES" dirty="0"/>
              <a:t> usando peticiones HTTP desde el navegador. </a:t>
            </a:r>
          </a:p>
        </p:txBody>
      </p:sp>
      <p:pic>
        <p:nvPicPr>
          <p:cNvPr id="9" name="Picture 2" descr="🚀En XTART FP (Grupo UAX) nuestro equipo conecta talento y empleo  transformando vidas a través de la formación. | Paula P.">
            <a:extLst>
              <a:ext uri="{FF2B5EF4-FFF2-40B4-BE49-F238E27FC236}">
                <a16:creationId xmlns:a16="http://schemas.microsoft.com/office/drawing/2014/main" id="{8AA18E57-691A-C55A-CD48-3FB2DBCE89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2546" y="5692405"/>
            <a:ext cx="824208" cy="812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F8C05F6-1FB3-D2D4-3B08-A7C8BA9B922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400" y="6170309"/>
            <a:ext cx="1081415" cy="33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303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B975FB-8612-B95A-3BBF-B7BDDB069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Base de datos 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E14DC8A-D837-3646-3DB8-48BDD8832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3795" y="1683544"/>
            <a:ext cx="3300984" cy="404812"/>
          </a:xfrm>
        </p:spPr>
        <p:txBody>
          <a:bodyPr/>
          <a:lstStyle/>
          <a:p>
            <a:r>
              <a:rPr lang="es-ES" sz="1800" dirty="0"/>
              <a:t>Tablas 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E3218DA-26CA-4ACF-8354-066A7E6E7C70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913795" y="2309960"/>
            <a:ext cx="3300984" cy="3219450"/>
          </a:xfrm>
        </p:spPr>
        <p:txBody>
          <a:bodyPr>
            <a:normAutofit fontScale="70000" lnSpcReduction="20000"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1500" dirty="0"/>
              <a:t>Usuario </a:t>
            </a:r>
          </a:p>
          <a:p>
            <a:pPr algn="l"/>
            <a:r>
              <a:rPr lang="es-ES" sz="1500" dirty="0"/>
              <a:t>Datos del perfil: nombre, email, ciudad, descripción, estado cuenta…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1500" dirty="0"/>
              <a:t>Tecnología</a:t>
            </a:r>
          </a:p>
          <a:p>
            <a:pPr algn="l"/>
            <a:r>
              <a:rPr lang="es-ES" sz="1500" dirty="0"/>
              <a:t>Catalogo de tecnologías disponibles (java, </a:t>
            </a:r>
            <a:r>
              <a:rPr lang="es-ES" sz="1500" dirty="0" err="1"/>
              <a:t>css</a:t>
            </a:r>
            <a:r>
              <a:rPr lang="es-ES" sz="1500" dirty="0"/>
              <a:t>, </a:t>
            </a:r>
            <a:r>
              <a:rPr lang="es-ES" sz="1500" dirty="0" err="1"/>
              <a:t>html</a:t>
            </a:r>
            <a:r>
              <a:rPr lang="es-ES" sz="1500" dirty="0"/>
              <a:t>…)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1500" dirty="0" err="1"/>
              <a:t>Usuario_tecnologia</a:t>
            </a:r>
            <a:endParaRPr lang="es-ES" sz="1500" dirty="0"/>
          </a:p>
          <a:p>
            <a:pPr algn="l"/>
            <a:r>
              <a:rPr lang="es-ES" sz="1500" dirty="0"/>
              <a:t>Tabla intermedia entre usuario y tecnología. Guarda el nivel de dominio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1500" dirty="0"/>
              <a:t>Likes </a:t>
            </a:r>
          </a:p>
          <a:p>
            <a:pPr algn="l"/>
            <a:r>
              <a:rPr lang="es-ES" sz="1500" dirty="0"/>
              <a:t>Registra cada </a:t>
            </a:r>
            <a:r>
              <a:rPr lang="es-ES" sz="1500" dirty="0" err="1"/>
              <a:t>like</a:t>
            </a:r>
            <a:r>
              <a:rPr lang="es-ES" sz="1500" dirty="0"/>
              <a:t> </a:t>
            </a:r>
            <a:r>
              <a:rPr lang="es-ES" sz="1500" dirty="0" err="1"/>
              <a:t>usuario_manda</a:t>
            </a:r>
            <a:r>
              <a:rPr lang="es-ES" sz="1500" dirty="0"/>
              <a:t> </a:t>
            </a:r>
            <a:r>
              <a:rPr lang="es-ES" sz="1500" dirty="0" err="1"/>
              <a:t>usuario_recibe</a:t>
            </a:r>
            <a:r>
              <a:rPr lang="es-ES" sz="1500" dirty="0"/>
              <a:t> + fecha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1500" dirty="0"/>
              <a:t>Matches </a:t>
            </a:r>
          </a:p>
          <a:p>
            <a:pPr algn="l"/>
            <a:r>
              <a:rPr lang="es-ES" sz="1500" dirty="0"/>
              <a:t>Se rellena automáticamente por el </a:t>
            </a:r>
            <a:r>
              <a:rPr lang="es-ES" sz="1500" dirty="0" err="1"/>
              <a:t>triger</a:t>
            </a:r>
            <a:r>
              <a:rPr lang="es-ES" sz="1500" dirty="0"/>
              <a:t> cuando hay </a:t>
            </a:r>
            <a:r>
              <a:rPr lang="es-ES" sz="1500" dirty="0" err="1"/>
              <a:t>like</a:t>
            </a:r>
            <a:r>
              <a:rPr lang="es-ES" sz="1500" dirty="0"/>
              <a:t> mutuo</a:t>
            </a:r>
          </a:p>
          <a:p>
            <a:pPr algn="l"/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04BB9F2-14CD-F6A9-9FFC-EBF5E2CDFE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40183" y="1683544"/>
            <a:ext cx="3300984" cy="404812"/>
          </a:xfrm>
        </p:spPr>
        <p:txBody>
          <a:bodyPr/>
          <a:lstStyle/>
          <a:p>
            <a:r>
              <a:rPr lang="es-ES" sz="1800" dirty="0"/>
              <a:t>Procedimientos almacenados 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BD000F2C-C05A-B310-0804-CB76F7C4FE40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4440183" y="2309960"/>
            <a:ext cx="3300984" cy="3219450"/>
          </a:xfrm>
        </p:spPr>
        <p:txBody>
          <a:bodyPr>
            <a:norm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s-ES" sz="1200" dirty="0"/>
              <a:t>Conteo de </a:t>
            </a:r>
            <a:r>
              <a:rPr lang="es-ES" sz="1200" dirty="0" err="1"/>
              <a:t>matches</a:t>
            </a:r>
            <a:endParaRPr lang="es-ES" sz="1200" dirty="0"/>
          </a:p>
          <a:p>
            <a:pPr algn="l"/>
            <a:r>
              <a:rPr lang="es-ES" sz="1200" dirty="0"/>
              <a:t>Devuelve el numero total de </a:t>
            </a:r>
            <a:r>
              <a:rPr lang="es-ES" sz="1200" dirty="0" err="1"/>
              <a:t>matches</a:t>
            </a:r>
            <a:r>
              <a:rPr lang="es-ES" sz="1200" dirty="0"/>
              <a:t> que tiene un usuario determinado.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s-ES" sz="1200" dirty="0"/>
              <a:t>Carga de datos de usuario</a:t>
            </a:r>
          </a:p>
          <a:p>
            <a:pPr algn="l"/>
            <a:r>
              <a:rPr lang="es-ES" sz="1200" dirty="0"/>
              <a:t>Devuelve todos los datos del perfil de un usuario a partir de su ID.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s-ES" sz="1200" dirty="0"/>
              <a:t>Borrado de usuario</a:t>
            </a:r>
          </a:p>
          <a:p>
            <a:pPr algn="l"/>
            <a:r>
              <a:rPr lang="es-ES" sz="1200" dirty="0"/>
              <a:t>Elimina un usuario de la base de datos a partir de su identificador.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B8BEE5B0-08D3-DB69-AB4A-6DAAA70CF8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55921" y="1683544"/>
            <a:ext cx="3300984" cy="404812"/>
          </a:xfrm>
        </p:spPr>
        <p:txBody>
          <a:bodyPr/>
          <a:lstStyle/>
          <a:p>
            <a:r>
              <a:rPr lang="es-ES" sz="1800" dirty="0"/>
              <a:t>Trigger 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42FBDA0F-F474-9AA7-57E8-2CBF7FDBB782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7955921" y="2309960"/>
            <a:ext cx="3300984" cy="3219450"/>
          </a:xfrm>
        </p:spPr>
        <p:txBody>
          <a:bodyPr/>
          <a:lstStyle/>
          <a:p>
            <a:pPr algn="l"/>
            <a:r>
              <a:rPr lang="es-ES" dirty="0"/>
              <a:t>Cada vez que alguien le da </a:t>
            </a:r>
            <a:r>
              <a:rPr lang="es-ES" dirty="0" err="1"/>
              <a:t>like</a:t>
            </a:r>
            <a:r>
              <a:rPr lang="es-ES" dirty="0"/>
              <a:t> a un usuario la base de datos lo registra. En ese momento el </a:t>
            </a:r>
            <a:r>
              <a:rPr lang="es-ES" dirty="0" err="1"/>
              <a:t>trigger</a:t>
            </a:r>
            <a:r>
              <a:rPr lang="es-ES" dirty="0"/>
              <a:t> se activa y comprueba si se han dado </a:t>
            </a:r>
            <a:r>
              <a:rPr lang="es-ES" dirty="0" err="1"/>
              <a:t>like</a:t>
            </a:r>
            <a:r>
              <a:rPr lang="es-ES" dirty="0"/>
              <a:t> mutuamente y si se han dado el </a:t>
            </a:r>
            <a:r>
              <a:rPr lang="es-ES" dirty="0" err="1"/>
              <a:t>trigger</a:t>
            </a:r>
            <a:r>
              <a:rPr lang="es-ES" dirty="0"/>
              <a:t> salta y guarda a los dos usuarios en la tabla de </a:t>
            </a:r>
            <a:r>
              <a:rPr lang="es-ES" dirty="0" err="1"/>
              <a:t>matches</a:t>
            </a:r>
            <a:r>
              <a:rPr lang="es-ES" dirty="0"/>
              <a:t>.</a:t>
            </a:r>
          </a:p>
        </p:txBody>
      </p:sp>
      <p:pic>
        <p:nvPicPr>
          <p:cNvPr id="9" name="Picture 2" descr="🚀En XTART FP (Grupo UAX) nuestro equipo conecta talento y empleo  transformando vidas a través de la formación. | Paula P.">
            <a:extLst>
              <a:ext uri="{FF2B5EF4-FFF2-40B4-BE49-F238E27FC236}">
                <a16:creationId xmlns:a16="http://schemas.microsoft.com/office/drawing/2014/main" id="{A4A7FFBA-00BA-8B4D-B840-9E08BE844C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2546" y="5692405"/>
            <a:ext cx="824208" cy="812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993EF5D3-A0C4-581E-08F6-3E8581DAEAD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400" y="6170309"/>
            <a:ext cx="1081415" cy="33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452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C99635-5633-85D1-FEE4-55E53DAB7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Backend</a:t>
            </a:r>
            <a:r>
              <a:rPr lang="es-ES" dirty="0"/>
              <a:t>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95E008-15DA-2127-F3A4-D06721F3C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2" y="1498988"/>
            <a:ext cx="10124319" cy="1223022"/>
          </a:xfrm>
        </p:spPr>
        <p:txBody>
          <a:bodyPr/>
          <a:lstStyle/>
          <a:p>
            <a:pPr marL="36900" indent="0">
              <a:buNone/>
            </a:pPr>
            <a:r>
              <a:rPr lang="es-ES" sz="1600" dirty="0"/>
              <a:t>El servidor gestiona todas las operaciones: registro, </a:t>
            </a:r>
            <a:r>
              <a:rPr lang="es-ES" sz="1600" dirty="0" err="1"/>
              <a:t>login</a:t>
            </a:r>
            <a:r>
              <a:rPr lang="es-ES" sz="1600" dirty="0"/>
              <a:t>, perfiles, </a:t>
            </a:r>
            <a:r>
              <a:rPr lang="es-ES" sz="1600" dirty="0" err="1"/>
              <a:t>likes</a:t>
            </a:r>
            <a:r>
              <a:rPr lang="es-ES" sz="1600" dirty="0"/>
              <a:t> y </a:t>
            </a:r>
            <a:r>
              <a:rPr lang="es-ES" sz="1600" dirty="0" err="1"/>
              <a:t>matches</a:t>
            </a:r>
            <a:r>
              <a:rPr lang="es-ES" sz="1600" dirty="0"/>
              <a:t>. El </a:t>
            </a:r>
            <a:r>
              <a:rPr lang="es-ES" sz="1600" dirty="0" err="1"/>
              <a:t>frontend</a:t>
            </a:r>
            <a:r>
              <a:rPr lang="es-ES" sz="1600" dirty="0"/>
              <a:t> se comunica con el mediante peticiones HTTP.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21D32ED2-CDD1-2F70-D242-98D215425551}"/>
              </a:ext>
            </a:extLst>
          </p:cNvPr>
          <p:cNvSpPr txBox="1">
            <a:spLocks/>
          </p:cNvSpPr>
          <p:nvPr/>
        </p:nvSpPr>
        <p:spPr>
          <a:xfrm>
            <a:off x="913792" y="2817489"/>
            <a:ext cx="4703237" cy="122302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Font typeface="Wingdings 2" charset="2"/>
              <a:buNone/>
            </a:pPr>
            <a:r>
              <a:rPr lang="es-ES" dirty="0"/>
              <a:t>Registro </a:t>
            </a:r>
          </a:p>
          <a:p>
            <a:pPr marL="36900" indent="0">
              <a:buFont typeface="Wingdings 2" charset="2"/>
              <a:buNone/>
            </a:pPr>
            <a:r>
              <a:rPr lang="es-ES" sz="1600" dirty="0"/>
              <a:t>El usuario completa un formulario y selecciona sus tecnologías. Todo se guarda en la base de datos  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A9EE82FC-CB9D-F1A6-AABF-1A741E23D5D9}"/>
              </a:ext>
            </a:extLst>
          </p:cNvPr>
          <p:cNvSpPr txBox="1">
            <a:spLocks/>
          </p:cNvSpPr>
          <p:nvPr/>
        </p:nvSpPr>
        <p:spPr>
          <a:xfrm>
            <a:off x="6334874" y="2817489"/>
            <a:ext cx="4703237" cy="122302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Font typeface="Wingdings 2" charset="2"/>
              <a:buNone/>
            </a:pPr>
            <a:r>
              <a:rPr lang="es-ES" sz="1600" dirty="0"/>
              <a:t>Login </a:t>
            </a:r>
          </a:p>
          <a:p>
            <a:pPr marL="36900" indent="0">
              <a:buFont typeface="Wingdings 2" charset="2"/>
              <a:buNone/>
            </a:pPr>
            <a:r>
              <a:rPr lang="es-ES" sz="1600" dirty="0"/>
              <a:t>Se comprueba el email y contraseña. Si son correctos, el usuario accede y su sesión queda guardada.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D2EB029F-E630-FE2F-F9E9-30CE72B1DE6E}"/>
              </a:ext>
            </a:extLst>
          </p:cNvPr>
          <p:cNvSpPr txBox="1">
            <a:spLocks/>
          </p:cNvSpPr>
          <p:nvPr/>
        </p:nvSpPr>
        <p:spPr>
          <a:xfrm>
            <a:off x="913792" y="4605405"/>
            <a:ext cx="4703237" cy="122302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Font typeface="Wingdings 2" charset="2"/>
              <a:buNone/>
            </a:pPr>
            <a:r>
              <a:rPr lang="es-ES" sz="1600" dirty="0"/>
              <a:t>Perfiles </a:t>
            </a:r>
          </a:p>
          <a:p>
            <a:pPr marL="36900" indent="0">
              <a:buFont typeface="Wingdings 2" charset="2"/>
              <a:buNone/>
            </a:pPr>
            <a:r>
              <a:rPr lang="es-ES" sz="1600" dirty="0"/>
              <a:t>Se muestran todos los usuarios menos el propio, con su ciudad, descripción y tecnologías.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B54C340D-C8BF-09EA-A80F-7B0F5D44B89A}"/>
              </a:ext>
            </a:extLst>
          </p:cNvPr>
          <p:cNvSpPr txBox="1">
            <a:spLocks/>
          </p:cNvSpPr>
          <p:nvPr/>
        </p:nvSpPr>
        <p:spPr>
          <a:xfrm>
            <a:off x="6334874" y="4605405"/>
            <a:ext cx="4703237" cy="122302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Font typeface="Wingdings 2" charset="2"/>
              <a:buNone/>
            </a:pPr>
            <a:r>
              <a:rPr lang="es-ES" sz="1600" dirty="0"/>
              <a:t>Likes y </a:t>
            </a:r>
            <a:r>
              <a:rPr lang="es-ES" sz="1600" dirty="0" err="1"/>
              <a:t>matches</a:t>
            </a:r>
            <a:r>
              <a:rPr lang="es-ES" sz="1600" dirty="0"/>
              <a:t> </a:t>
            </a:r>
          </a:p>
          <a:p>
            <a:pPr marL="36900" indent="0">
              <a:buFont typeface="Wingdings 2" charset="2"/>
              <a:buNone/>
            </a:pPr>
            <a:r>
              <a:rPr lang="es-ES" sz="1600" dirty="0"/>
              <a:t>Al dar </a:t>
            </a:r>
            <a:r>
              <a:rPr lang="es-ES" sz="1600" dirty="0" err="1"/>
              <a:t>like</a:t>
            </a:r>
            <a:r>
              <a:rPr lang="es-ES" sz="1600" dirty="0"/>
              <a:t> se registra en la base de datos. Si hay </a:t>
            </a:r>
            <a:r>
              <a:rPr lang="es-ES" sz="1600" dirty="0" err="1"/>
              <a:t>like</a:t>
            </a:r>
            <a:r>
              <a:rPr lang="es-ES" sz="1600" dirty="0"/>
              <a:t> mutuo, el </a:t>
            </a:r>
            <a:r>
              <a:rPr lang="es-ES" sz="1600" dirty="0" err="1"/>
              <a:t>trigger</a:t>
            </a:r>
            <a:r>
              <a:rPr lang="es-ES" sz="1600" dirty="0"/>
              <a:t> crea el match </a:t>
            </a:r>
            <a:r>
              <a:rPr lang="es-ES" sz="1600" dirty="0" err="1"/>
              <a:t>automaticamente</a:t>
            </a:r>
            <a:endParaRPr lang="es-ES" sz="1600" dirty="0"/>
          </a:p>
        </p:txBody>
      </p:sp>
      <p:pic>
        <p:nvPicPr>
          <p:cNvPr id="7" name="Picture 2" descr="🚀En XTART FP (Grupo UAX) nuestro equipo conecta talento y empleo  transformando vidas a través de la formación. | Paula P.">
            <a:extLst>
              <a:ext uri="{FF2B5EF4-FFF2-40B4-BE49-F238E27FC236}">
                <a16:creationId xmlns:a16="http://schemas.microsoft.com/office/drawing/2014/main" id="{B6904F0C-F762-3D6F-D5DB-80643990E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2546" y="5692405"/>
            <a:ext cx="824208" cy="812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C1B4D86-F97E-AF4B-B95C-57A2FFA811C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400" y="6170309"/>
            <a:ext cx="1081415" cy="33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531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D96FD2-D725-D8AB-B48E-9F5BE2A10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Frontend</a:t>
            </a:r>
            <a:r>
              <a:rPr lang="es-ES" dirty="0"/>
              <a:t> 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C0F455E-12CD-6AD0-0B87-59B50569EFD2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913794" y="2359479"/>
            <a:ext cx="3311634" cy="857250"/>
          </a:xfrm>
        </p:spPr>
        <p:txBody>
          <a:bodyPr/>
          <a:lstStyle/>
          <a:p>
            <a:r>
              <a:rPr lang="es-ES" dirty="0"/>
              <a:t>Inicio </a:t>
            </a:r>
          </a:p>
          <a:p>
            <a:r>
              <a:rPr lang="es-ES" dirty="0"/>
              <a:t>Logo, eslogan y acceso a la app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F3AF3B13-5C6F-E215-E5B9-D88B47840CB8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913794" y="1577878"/>
            <a:ext cx="8964991" cy="463193"/>
          </a:xfrm>
        </p:spPr>
        <p:txBody>
          <a:bodyPr>
            <a:normAutofit/>
          </a:bodyPr>
          <a:lstStyle/>
          <a:p>
            <a:pPr algn="l"/>
            <a:r>
              <a:rPr lang="es-ES" dirty="0"/>
              <a:t>7 paginas web, cada una con su propio archivo </a:t>
            </a:r>
            <a:r>
              <a:rPr lang="es-ES" dirty="0" err="1"/>
              <a:t>Javascript</a:t>
            </a:r>
            <a:r>
              <a:rPr lang="es-ES" dirty="0"/>
              <a:t> y CSS</a:t>
            </a:r>
          </a:p>
        </p:txBody>
      </p:sp>
      <p:sp>
        <p:nvSpPr>
          <p:cNvPr id="9" name="Marcador de texto 3">
            <a:extLst>
              <a:ext uri="{FF2B5EF4-FFF2-40B4-BE49-F238E27FC236}">
                <a16:creationId xmlns:a16="http://schemas.microsoft.com/office/drawing/2014/main" id="{9B6D0883-612A-54B5-00A6-DF4F7FA03C9B}"/>
              </a:ext>
            </a:extLst>
          </p:cNvPr>
          <p:cNvSpPr txBox="1">
            <a:spLocks/>
          </p:cNvSpPr>
          <p:nvPr/>
        </p:nvSpPr>
        <p:spPr>
          <a:xfrm>
            <a:off x="4434859" y="2359479"/>
            <a:ext cx="3311634" cy="8572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2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Login </a:t>
            </a:r>
          </a:p>
          <a:p>
            <a:r>
              <a:rPr lang="es-ES" dirty="0"/>
              <a:t>Formulario con email y contraseña. Si son correctos, guarda el id del usuario y redirige a perfiles  </a:t>
            </a:r>
          </a:p>
        </p:txBody>
      </p:sp>
      <p:sp>
        <p:nvSpPr>
          <p:cNvPr id="10" name="Marcador de texto 3">
            <a:extLst>
              <a:ext uri="{FF2B5EF4-FFF2-40B4-BE49-F238E27FC236}">
                <a16:creationId xmlns:a16="http://schemas.microsoft.com/office/drawing/2014/main" id="{C885E5EE-98E3-82E0-87E4-C84451B86389}"/>
              </a:ext>
            </a:extLst>
          </p:cNvPr>
          <p:cNvSpPr txBox="1">
            <a:spLocks/>
          </p:cNvSpPr>
          <p:nvPr/>
        </p:nvSpPr>
        <p:spPr>
          <a:xfrm>
            <a:off x="7955923" y="2359479"/>
            <a:ext cx="3311634" cy="8572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2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Registro </a:t>
            </a:r>
          </a:p>
          <a:p>
            <a:r>
              <a:rPr lang="es-ES" dirty="0"/>
              <a:t>Formulario y selección de tecnologías </a:t>
            </a:r>
          </a:p>
        </p:txBody>
      </p:sp>
      <p:sp>
        <p:nvSpPr>
          <p:cNvPr id="11" name="Marcador de texto 3">
            <a:extLst>
              <a:ext uri="{FF2B5EF4-FFF2-40B4-BE49-F238E27FC236}">
                <a16:creationId xmlns:a16="http://schemas.microsoft.com/office/drawing/2014/main" id="{2DCD3AC0-1D8D-32D1-457B-D8CD68C4978B}"/>
              </a:ext>
            </a:extLst>
          </p:cNvPr>
          <p:cNvSpPr txBox="1">
            <a:spLocks/>
          </p:cNvSpPr>
          <p:nvPr/>
        </p:nvSpPr>
        <p:spPr>
          <a:xfrm>
            <a:off x="913794" y="3641272"/>
            <a:ext cx="3311634" cy="8572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2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Perfiles </a:t>
            </a:r>
          </a:p>
          <a:p>
            <a:r>
              <a:rPr lang="es-ES" dirty="0"/>
              <a:t>Muestra tarjetas de otros usuarios con botones </a:t>
            </a:r>
            <a:r>
              <a:rPr lang="es-ES" dirty="0" err="1"/>
              <a:t>like</a:t>
            </a:r>
            <a:r>
              <a:rPr lang="es-ES" dirty="0"/>
              <a:t>/match </a:t>
            </a:r>
          </a:p>
        </p:txBody>
      </p:sp>
      <p:sp>
        <p:nvSpPr>
          <p:cNvPr id="12" name="Marcador de texto 3">
            <a:extLst>
              <a:ext uri="{FF2B5EF4-FFF2-40B4-BE49-F238E27FC236}">
                <a16:creationId xmlns:a16="http://schemas.microsoft.com/office/drawing/2014/main" id="{A8EC219F-11E0-A076-B78B-32270BEA27FB}"/>
              </a:ext>
            </a:extLst>
          </p:cNvPr>
          <p:cNvSpPr txBox="1">
            <a:spLocks/>
          </p:cNvSpPr>
          <p:nvPr/>
        </p:nvSpPr>
        <p:spPr>
          <a:xfrm>
            <a:off x="4434859" y="3535137"/>
            <a:ext cx="3311634" cy="8572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2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Mi perfil </a:t>
            </a:r>
          </a:p>
          <a:p>
            <a:r>
              <a:rPr lang="es-ES" dirty="0"/>
              <a:t>Muestra los datos del usuario autenticado </a:t>
            </a:r>
          </a:p>
        </p:txBody>
      </p:sp>
      <p:sp>
        <p:nvSpPr>
          <p:cNvPr id="13" name="Marcador de texto 3">
            <a:extLst>
              <a:ext uri="{FF2B5EF4-FFF2-40B4-BE49-F238E27FC236}">
                <a16:creationId xmlns:a16="http://schemas.microsoft.com/office/drawing/2014/main" id="{A0974FCA-E2C1-81E5-BC1C-B4B169307074}"/>
              </a:ext>
            </a:extLst>
          </p:cNvPr>
          <p:cNvSpPr txBox="1">
            <a:spLocks/>
          </p:cNvSpPr>
          <p:nvPr/>
        </p:nvSpPr>
        <p:spPr>
          <a:xfrm>
            <a:off x="7955923" y="3641272"/>
            <a:ext cx="3311634" cy="8572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2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Likes </a:t>
            </a:r>
          </a:p>
          <a:p>
            <a:r>
              <a:rPr lang="es-ES" dirty="0"/>
              <a:t>Lista de usuarios a los que se ha dado </a:t>
            </a:r>
            <a:r>
              <a:rPr lang="es-ES" dirty="0" err="1"/>
              <a:t>like</a:t>
            </a:r>
            <a:r>
              <a:rPr lang="es-ES" dirty="0"/>
              <a:t>  </a:t>
            </a:r>
          </a:p>
        </p:txBody>
      </p:sp>
      <p:sp>
        <p:nvSpPr>
          <p:cNvPr id="14" name="Marcador de texto 3">
            <a:extLst>
              <a:ext uri="{FF2B5EF4-FFF2-40B4-BE49-F238E27FC236}">
                <a16:creationId xmlns:a16="http://schemas.microsoft.com/office/drawing/2014/main" id="{5E43A481-2C63-4C3E-20B7-561C7A70FB7F}"/>
              </a:ext>
            </a:extLst>
          </p:cNvPr>
          <p:cNvSpPr txBox="1">
            <a:spLocks/>
          </p:cNvSpPr>
          <p:nvPr/>
        </p:nvSpPr>
        <p:spPr>
          <a:xfrm>
            <a:off x="4434859" y="4851497"/>
            <a:ext cx="3311634" cy="8572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2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 err="1"/>
              <a:t>Matches</a:t>
            </a:r>
            <a:endParaRPr lang="es-ES" dirty="0"/>
          </a:p>
          <a:p>
            <a:r>
              <a:rPr lang="es-ES" dirty="0"/>
              <a:t>Lista de </a:t>
            </a:r>
            <a:r>
              <a:rPr lang="es-ES" dirty="0" err="1"/>
              <a:t>matches</a:t>
            </a:r>
            <a:r>
              <a:rPr lang="es-ES" dirty="0"/>
              <a:t> conseguidos </a:t>
            </a:r>
          </a:p>
        </p:txBody>
      </p:sp>
      <p:pic>
        <p:nvPicPr>
          <p:cNvPr id="3" name="Picture 2" descr="🚀En XTART FP (Grupo UAX) nuestro equipo conecta talento y empleo  transformando vidas a través de la formación. | Paula P.">
            <a:extLst>
              <a:ext uri="{FF2B5EF4-FFF2-40B4-BE49-F238E27FC236}">
                <a16:creationId xmlns:a16="http://schemas.microsoft.com/office/drawing/2014/main" id="{9E5DF1A7-9127-B4A7-C34A-D9CDE0C531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2546" y="5692405"/>
            <a:ext cx="824208" cy="812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E1DC194-F0BD-CA19-E76E-DB327D80107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400" y="6170309"/>
            <a:ext cx="1081415" cy="33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532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C788A6-AD3A-0F45-8BAE-85667D0A5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Como se usa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DBA1B8A-F9B0-7113-0F76-E381D691A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3795" y="1580050"/>
            <a:ext cx="3300984" cy="576262"/>
          </a:xfrm>
        </p:spPr>
        <p:txBody>
          <a:bodyPr/>
          <a:lstStyle/>
          <a:p>
            <a:r>
              <a:rPr lang="es-ES" sz="1800" dirty="0"/>
              <a:t>Entras en LoveCode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E09C55B-A0D8-F070-A902-7808B0CDE6DA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896609" y="2359343"/>
            <a:ext cx="3300984" cy="576262"/>
          </a:xfrm>
        </p:spPr>
        <p:txBody>
          <a:bodyPr/>
          <a:lstStyle/>
          <a:p>
            <a:pPr algn="l"/>
            <a:r>
              <a:rPr lang="es-ES" dirty="0"/>
              <a:t>Ves la pagina de inicio con el logo y dos botones: iniciar sesión y registrarse.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ACD62D0-4ADF-7E58-7250-DA6A336EDE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31591" y="1580050"/>
            <a:ext cx="3300984" cy="576262"/>
          </a:xfrm>
        </p:spPr>
        <p:txBody>
          <a:bodyPr/>
          <a:lstStyle/>
          <a:p>
            <a:r>
              <a:rPr lang="es-ES" sz="1800" dirty="0"/>
              <a:t>Creas tu cuenta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F5C5D981-E3CD-74AA-5C7A-B4D4D8FE8482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4441434" y="2359343"/>
            <a:ext cx="3399545" cy="727710"/>
          </a:xfrm>
        </p:spPr>
        <p:txBody>
          <a:bodyPr>
            <a:normAutofit lnSpcReduction="10000"/>
          </a:bodyPr>
          <a:lstStyle/>
          <a:p>
            <a:pPr algn="l"/>
            <a:r>
              <a:rPr lang="es-ES" dirty="0"/>
              <a:t>Rellenas el formulario con tu nombre, ciudad, email, contraseña… y eliges tus tecnologías.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1137EB89-51E8-344D-4171-9B415E1833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25696" y="1580050"/>
            <a:ext cx="3300984" cy="576262"/>
          </a:xfrm>
        </p:spPr>
        <p:txBody>
          <a:bodyPr/>
          <a:lstStyle/>
          <a:p>
            <a:r>
              <a:rPr lang="es-ES" sz="1800" dirty="0"/>
              <a:t>Iniciar sesión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F5352024-11FE-2C56-CFF4-242B366F23A1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8025696" y="2359343"/>
            <a:ext cx="3182736" cy="445770"/>
          </a:xfrm>
        </p:spPr>
        <p:txBody>
          <a:bodyPr/>
          <a:lstStyle/>
          <a:p>
            <a:pPr algn="l"/>
            <a:r>
              <a:rPr lang="es-ES" dirty="0"/>
              <a:t>Introduces tu email y la contraseña. </a:t>
            </a:r>
          </a:p>
        </p:txBody>
      </p:sp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3BAD857C-D4C6-6BD0-030D-147A3ED18EEF}"/>
              </a:ext>
            </a:extLst>
          </p:cNvPr>
          <p:cNvSpPr txBox="1">
            <a:spLocks/>
          </p:cNvSpPr>
          <p:nvPr/>
        </p:nvSpPr>
        <p:spPr>
          <a:xfrm>
            <a:off x="896609" y="3429000"/>
            <a:ext cx="3300984" cy="57626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400" b="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s-ES" sz="1800" dirty="0"/>
              <a:t>Ves los perfiles</a:t>
            </a:r>
          </a:p>
        </p:txBody>
      </p:sp>
      <p:sp>
        <p:nvSpPr>
          <p:cNvPr id="10" name="Marcador de texto 3">
            <a:extLst>
              <a:ext uri="{FF2B5EF4-FFF2-40B4-BE49-F238E27FC236}">
                <a16:creationId xmlns:a16="http://schemas.microsoft.com/office/drawing/2014/main" id="{0AC98BE7-484A-0DFF-2AFD-2B59044855E4}"/>
              </a:ext>
            </a:extLst>
          </p:cNvPr>
          <p:cNvSpPr txBox="1">
            <a:spLocks/>
          </p:cNvSpPr>
          <p:nvPr/>
        </p:nvSpPr>
        <p:spPr>
          <a:xfrm>
            <a:off x="896609" y="4208293"/>
            <a:ext cx="3300984" cy="57626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2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dirty="0"/>
              <a:t>Aparecen tarjetas con otros usuarios: su nombre, ciudad, descripción, tecnologías y nombre de usuario.</a:t>
            </a:r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69A1A1B1-333B-5121-6706-F78F70BEBE4E}"/>
              </a:ext>
            </a:extLst>
          </p:cNvPr>
          <p:cNvSpPr txBox="1">
            <a:spLocks/>
          </p:cNvSpPr>
          <p:nvPr/>
        </p:nvSpPr>
        <p:spPr>
          <a:xfrm>
            <a:off x="4431591" y="3429000"/>
            <a:ext cx="3300984" cy="57626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400" b="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s-ES" sz="1800" dirty="0"/>
              <a:t>Dar </a:t>
            </a:r>
            <a:r>
              <a:rPr lang="es-ES" sz="1800" dirty="0" err="1"/>
              <a:t>likes</a:t>
            </a:r>
            <a:r>
              <a:rPr lang="es-ES" sz="1800" dirty="0"/>
              <a:t> y </a:t>
            </a:r>
            <a:r>
              <a:rPr lang="es-ES" sz="1800" dirty="0" err="1"/>
              <a:t>matches</a:t>
            </a:r>
            <a:endParaRPr lang="es-ES" sz="1800" dirty="0"/>
          </a:p>
        </p:txBody>
      </p:sp>
      <p:sp>
        <p:nvSpPr>
          <p:cNvPr id="12" name="Marcador de texto 3">
            <a:extLst>
              <a:ext uri="{FF2B5EF4-FFF2-40B4-BE49-F238E27FC236}">
                <a16:creationId xmlns:a16="http://schemas.microsoft.com/office/drawing/2014/main" id="{2D5A8F48-0998-445D-6807-AC5678AB6DF8}"/>
              </a:ext>
            </a:extLst>
          </p:cNvPr>
          <p:cNvSpPr txBox="1">
            <a:spLocks/>
          </p:cNvSpPr>
          <p:nvPr/>
        </p:nvSpPr>
        <p:spPr>
          <a:xfrm>
            <a:off x="4441434" y="4208293"/>
            <a:ext cx="3300984" cy="57626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2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dirty="0"/>
              <a:t>Pulsar </a:t>
            </a:r>
            <a:r>
              <a:rPr lang="es-ES" dirty="0" err="1"/>
              <a:t>like</a:t>
            </a:r>
            <a:r>
              <a:rPr lang="es-ES" dirty="0"/>
              <a:t> si alguien te interesa. Y cuando dos usuarios se dan </a:t>
            </a:r>
            <a:r>
              <a:rPr lang="es-ES" dirty="0" err="1"/>
              <a:t>like</a:t>
            </a:r>
            <a:r>
              <a:rPr lang="es-ES" dirty="0"/>
              <a:t> mutuamente hay match.</a:t>
            </a:r>
          </a:p>
        </p:txBody>
      </p:sp>
      <p:sp>
        <p:nvSpPr>
          <p:cNvPr id="13" name="Marcador de texto 2">
            <a:extLst>
              <a:ext uri="{FF2B5EF4-FFF2-40B4-BE49-F238E27FC236}">
                <a16:creationId xmlns:a16="http://schemas.microsoft.com/office/drawing/2014/main" id="{B30CD554-D5A8-59C4-CB58-8A2BFDD53F01}"/>
              </a:ext>
            </a:extLst>
          </p:cNvPr>
          <p:cNvSpPr txBox="1">
            <a:spLocks/>
          </p:cNvSpPr>
          <p:nvPr/>
        </p:nvSpPr>
        <p:spPr>
          <a:xfrm>
            <a:off x="8025696" y="3429000"/>
            <a:ext cx="3300984" cy="57626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400" b="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b="1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s-ES" sz="1800" dirty="0"/>
              <a:t>Consultas tus conexiones</a:t>
            </a:r>
          </a:p>
        </p:txBody>
      </p:sp>
      <p:sp>
        <p:nvSpPr>
          <p:cNvPr id="14" name="Marcador de texto 3">
            <a:extLst>
              <a:ext uri="{FF2B5EF4-FFF2-40B4-BE49-F238E27FC236}">
                <a16:creationId xmlns:a16="http://schemas.microsoft.com/office/drawing/2014/main" id="{A6E3B953-D195-2C6F-E82C-5A0325F19138}"/>
              </a:ext>
            </a:extLst>
          </p:cNvPr>
          <p:cNvSpPr txBox="1">
            <a:spLocks/>
          </p:cNvSpPr>
          <p:nvPr/>
        </p:nvSpPr>
        <p:spPr>
          <a:xfrm>
            <a:off x="8025696" y="4208293"/>
            <a:ext cx="3300984" cy="57626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2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dirty="0"/>
              <a:t>En el menú puedes ver tu perfil, tus </a:t>
            </a:r>
            <a:r>
              <a:rPr lang="es-ES" dirty="0" err="1"/>
              <a:t>likes</a:t>
            </a:r>
            <a:r>
              <a:rPr lang="es-ES" dirty="0"/>
              <a:t> dados y tus </a:t>
            </a:r>
            <a:r>
              <a:rPr lang="es-ES" dirty="0" err="1"/>
              <a:t>matches</a:t>
            </a:r>
            <a:r>
              <a:rPr lang="es-ES" dirty="0"/>
              <a:t>.</a:t>
            </a:r>
          </a:p>
        </p:txBody>
      </p:sp>
      <p:pic>
        <p:nvPicPr>
          <p:cNvPr id="15" name="Picture 2" descr="🚀En XTART FP (Grupo UAX) nuestro equipo conecta talento y empleo  transformando vidas a través de la formación. | Paula P.">
            <a:extLst>
              <a:ext uri="{FF2B5EF4-FFF2-40B4-BE49-F238E27FC236}">
                <a16:creationId xmlns:a16="http://schemas.microsoft.com/office/drawing/2014/main" id="{1E79CE3B-1ADD-7301-188A-B7B85DC5E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2546" y="5692405"/>
            <a:ext cx="824208" cy="812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057B7505-D63B-BF6E-6BE0-43511AEB9EE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400" y="6170309"/>
            <a:ext cx="1081415" cy="33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991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C83CDE-0A1C-0C41-BB1C-2FCBF8EA0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Entornos de desarrollo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D8150B7-AB23-2BF1-0251-47B05EC67E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2000" dirty="0"/>
              <a:t>Repositorio </a:t>
            </a:r>
            <a:r>
              <a:rPr lang="es-ES" sz="2000" dirty="0" err="1"/>
              <a:t>git</a:t>
            </a:r>
            <a:r>
              <a:rPr lang="es-ES" sz="2000" dirty="0"/>
              <a:t> 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D7CBC65-E802-35EE-40F1-1D8547707A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ES" sz="2000" dirty="0"/>
              <a:t>Pruebas del proyecto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E5480D9-2393-6E00-14C8-B2C2688BAE9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36900" indent="0">
              <a:buNone/>
            </a:pPr>
            <a:r>
              <a:rPr lang="es-ES" dirty="0"/>
              <a:t>También he hecho pruebas automáticas para comprobar que las partes mas importantes de la app funcionan bien.</a:t>
            </a:r>
          </a:p>
          <a:p>
            <a:pPr marL="36900" indent="0">
              <a:buNone/>
            </a:pPr>
            <a:r>
              <a:rPr lang="es-ES" dirty="0"/>
              <a:t>Login correcto</a:t>
            </a:r>
          </a:p>
          <a:p>
            <a:pPr marL="36900" indent="0">
              <a:buNone/>
            </a:pPr>
            <a:r>
              <a:rPr lang="es-ES" dirty="0"/>
              <a:t>Login incorrecto </a:t>
            </a:r>
          </a:p>
          <a:p>
            <a:pPr marL="36900" indent="0">
              <a:buNone/>
            </a:pPr>
            <a:r>
              <a:rPr lang="es-ES" dirty="0"/>
              <a:t>Registro correcto </a:t>
            </a:r>
          </a:p>
          <a:p>
            <a:pPr marL="36900" indent="0">
              <a:buNone/>
            </a:pPr>
            <a:r>
              <a:rPr lang="es-ES" dirty="0"/>
              <a:t>Registro incorrecto </a:t>
            </a:r>
          </a:p>
          <a:p>
            <a:pPr marL="36900" indent="0">
              <a:buNone/>
            </a:pPr>
            <a:r>
              <a:rPr lang="es-ES" dirty="0"/>
              <a:t>Like correcto</a:t>
            </a:r>
          </a:p>
          <a:p>
            <a:pPr marL="36900" indent="0">
              <a:buNone/>
            </a:pPr>
            <a:r>
              <a:rPr lang="es-ES" dirty="0"/>
              <a:t>Like incorrecto</a:t>
            </a:r>
          </a:p>
        </p:txBody>
      </p:sp>
      <p:pic>
        <p:nvPicPr>
          <p:cNvPr id="14" name="Marcador de contenido 13">
            <a:extLst>
              <a:ext uri="{FF2B5EF4-FFF2-40B4-BE49-F238E27FC236}">
                <a16:creationId xmlns:a16="http://schemas.microsoft.com/office/drawing/2014/main" id="{1EF183FB-B9D7-3885-964D-7870B055D0C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2380137"/>
            <a:ext cx="5075525" cy="347964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pic>
        <p:nvPicPr>
          <p:cNvPr id="4" name="Picture 2" descr="🚀En XTART FP (Grupo UAX) nuestro equipo conecta talento y empleo  transformando vidas a través de la formación. | Paula P.">
            <a:extLst>
              <a:ext uri="{FF2B5EF4-FFF2-40B4-BE49-F238E27FC236}">
                <a16:creationId xmlns:a16="http://schemas.microsoft.com/office/drawing/2014/main" id="{94234887-1133-31EF-5FE6-58BA20116E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2546" y="5692405"/>
            <a:ext cx="824208" cy="812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4898028-3968-4430-5B84-A1533484271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400" y="6170309"/>
            <a:ext cx="1081415" cy="33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884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71CFC9-8603-9B0C-5D1D-463AA5FF7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Sistemas informáticos 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8288B85-97E4-36CC-02D0-5D12C57E76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2000" dirty="0"/>
              <a:t>Maquina virtual Debian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04484FD-CA8B-364E-7947-EACA77C49180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>
            <a:normAutofit/>
          </a:bodyPr>
          <a:lstStyle/>
          <a:p>
            <a:pPr algn="l"/>
            <a:r>
              <a:rPr lang="es-ES" sz="1200" dirty="0"/>
              <a:t>La base de datos </a:t>
            </a:r>
            <a:r>
              <a:rPr lang="es-ES" sz="1200" dirty="0" err="1"/>
              <a:t>MariaDB</a:t>
            </a:r>
            <a:r>
              <a:rPr lang="es-ES" sz="1200" dirty="0"/>
              <a:t> esta instalada en una maquina virtual con sistema operativo Debian. Es accesible desde la maquina anfitriona mediante la IP 192.168.220.129 y el puerto 3306.</a:t>
            </a:r>
          </a:p>
          <a:p>
            <a:pPr algn="l"/>
            <a:r>
              <a:rPr lang="es-ES" sz="1200" dirty="0"/>
              <a:t>Se han creado 3 usuarios con permisos diferenciados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1200" dirty="0"/>
              <a:t>Root:  todos los privilegios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1200" dirty="0"/>
              <a:t>Desarrollador: permisos para hacer SELECT, INSERT, UPDATE, DELETE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sz="1200" dirty="0"/>
              <a:t>Lector: solo SELECT 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44E46AE4-E914-F163-8CA6-639237B4ED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99280" y="1885950"/>
            <a:ext cx="4522511" cy="576262"/>
          </a:xfrm>
        </p:spPr>
        <p:txBody>
          <a:bodyPr/>
          <a:lstStyle/>
          <a:p>
            <a:r>
              <a:rPr lang="es-ES" sz="2000" dirty="0" err="1"/>
              <a:t>Backup</a:t>
            </a:r>
            <a:r>
              <a:rPr lang="es-ES" sz="2000" dirty="0"/>
              <a:t> de la base de datos 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82C7E25D-B72B-1287-96C2-750B234BFF33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4899281" y="2571749"/>
            <a:ext cx="6640678" cy="1606711"/>
          </a:xfrm>
        </p:spPr>
        <p:txBody>
          <a:bodyPr>
            <a:normAutofit/>
          </a:bodyPr>
          <a:lstStyle/>
          <a:p>
            <a:pPr algn="l"/>
            <a:r>
              <a:rPr lang="es-ES" dirty="0"/>
              <a:t>Se realizo el </a:t>
            </a:r>
            <a:r>
              <a:rPr lang="es-ES" dirty="0" err="1"/>
              <a:t>backup</a:t>
            </a:r>
            <a:r>
              <a:rPr lang="es-ES" dirty="0"/>
              <a:t> con </a:t>
            </a:r>
            <a:r>
              <a:rPr lang="es-ES" dirty="0" err="1"/>
              <a:t>mysqldump</a:t>
            </a:r>
            <a:r>
              <a:rPr lang="es-ES" dirty="0"/>
              <a:t> y se subió al repositorio en la carpeta base de datos. El script de </a:t>
            </a:r>
            <a:r>
              <a:rPr lang="es-ES" dirty="0" err="1"/>
              <a:t>backup</a:t>
            </a:r>
            <a:r>
              <a:rPr lang="es-ES" dirty="0"/>
              <a:t> esta desarrollado desde la terminal de la maquina virtual y genera un archivo .</a:t>
            </a:r>
            <a:r>
              <a:rPr lang="es-ES" dirty="0" err="1"/>
              <a:t>sql</a:t>
            </a:r>
            <a:r>
              <a:rPr lang="es-ES" dirty="0"/>
              <a:t>. Se intento automatizar con cron en Debian, pero surgieron errores de compatibilidad por lo que el </a:t>
            </a:r>
            <a:r>
              <a:rPr lang="es-ES" dirty="0" err="1"/>
              <a:t>backup</a:t>
            </a:r>
            <a:r>
              <a:rPr lang="es-ES" dirty="0"/>
              <a:t> lo he hecho con el comando </a:t>
            </a:r>
            <a:r>
              <a:rPr lang="es-ES" dirty="0" err="1"/>
              <a:t>mysqldump</a:t>
            </a:r>
            <a:r>
              <a:rPr lang="es-ES" dirty="0"/>
              <a:t>.</a:t>
            </a:r>
          </a:p>
        </p:txBody>
      </p:sp>
      <p:pic>
        <p:nvPicPr>
          <p:cNvPr id="5" name="Picture 2" descr="🚀En XTART FP (Grupo UAX) nuestro equipo conecta talento y empleo  transformando vidas a través de la formación. | Paula P.">
            <a:extLst>
              <a:ext uri="{FF2B5EF4-FFF2-40B4-BE49-F238E27FC236}">
                <a16:creationId xmlns:a16="http://schemas.microsoft.com/office/drawing/2014/main" id="{D3CF1C63-B9E4-7C25-E986-2CA061FC8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2546" y="5692405"/>
            <a:ext cx="824208" cy="812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D95BB4D-31C2-881B-7B5E-B7C5255667A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400" y="6170309"/>
            <a:ext cx="1081415" cy="33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968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A6C2C86-63BF-47D5-AA3F-905111A23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C9D895-F6F3-DD79-6CE2-2128F7994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013" y="1115568"/>
            <a:ext cx="3487616" cy="46268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600" dirty="0" err="1"/>
              <a:t>Conclusión</a:t>
            </a:r>
            <a:r>
              <a:rPr lang="en-US" sz="3600" dirty="0"/>
              <a:t>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25A0768-3044-4AA9-A889-D2CAA68C5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605" y="2057400"/>
            <a:ext cx="0" cy="27432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5DB06F0-E956-4CC9-B331-F9C0EA6857E5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5105398" y="1115568"/>
            <a:ext cx="6245352" cy="46268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dirty="0"/>
              <a:t>El </a:t>
            </a:r>
            <a:r>
              <a:rPr lang="en-US" dirty="0" err="1"/>
              <a:t>desarrollo</a:t>
            </a:r>
            <a:r>
              <a:rPr lang="en-US" dirty="0"/>
              <a:t> de </a:t>
            </a:r>
            <a:r>
              <a:rPr lang="en-US" dirty="0" err="1"/>
              <a:t>LoveCode</a:t>
            </a:r>
            <a:r>
              <a:rPr lang="en-US" dirty="0"/>
              <a:t> ha </a:t>
            </a:r>
            <a:r>
              <a:rPr lang="en-US" dirty="0" err="1"/>
              <a:t>permitido</a:t>
            </a:r>
            <a:r>
              <a:rPr lang="en-US" dirty="0"/>
              <a:t> </a:t>
            </a:r>
            <a:r>
              <a:rPr lang="en-US" dirty="0" err="1"/>
              <a:t>poner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practica de forma </a:t>
            </a:r>
            <a:r>
              <a:rPr lang="en-US" dirty="0" err="1"/>
              <a:t>integrada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conocimientos</a:t>
            </a:r>
            <a:r>
              <a:rPr lang="en-US" dirty="0"/>
              <a:t> de </a:t>
            </a:r>
            <a:r>
              <a:rPr lang="en-US" dirty="0" err="1"/>
              <a:t>todos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módulos</a:t>
            </a:r>
            <a:r>
              <a:rPr lang="en-US" dirty="0"/>
              <a:t> </a:t>
            </a:r>
            <a:r>
              <a:rPr lang="en-US" dirty="0" err="1"/>
              <a:t>implicados</a:t>
            </a:r>
            <a:r>
              <a:rPr lang="en-US" dirty="0"/>
              <a:t>: </a:t>
            </a:r>
            <a:r>
              <a:rPr lang="en-US" dirty="0" err="1"/>
              <a:t>diseño</a:t>
            </a:r>
            <a:r>
              <a:rPr lang="en-US" dirty="0"/>
              <a:t> de bases de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relacionales</a:t>
            </a:r>
            <a:r>
              <a:rPr lang="en-US" dirty="0"/>
              <a:t> con triggers y </a:t>
            </a:r>
            <a:r>
              <a:rPr lang="en-US" dirty="0" err="1"/>
              <a:t>procedimientos</a:t>
            </a:r>
            <a:r>
              <a:rPr lang="en-US" dirty="0"/>
              <a:t> </a:t>
            </a:r>
            <a:r>
              <a:rPr lang="en-US" dirty="0" err="1"/>
              <a:t>almacenados</a:t>
            </a:r>
            <a:r>
              <a:rPr lang="en-US" dirty="0"/>
              <a:t>, </a:t>
            </a:r>
            <a:r>
              <a:rPr lang="en-US" dirty="0" err="1"/>
              <a:t>desarrollo</a:t>
            </a:r>
            <a:r>
              <a:rPr lang="en-US" dirty="0"/>
              <a:t> de </a:t>
            </a:r>
            <a:r>
              <a:rPr lang="en-US" dirty="0" err="1"/>
              <a:t>una</a:t>
            </a:r>
            <a:r>
              <a:rPr lang="en-US" dirty="0"/>
              <a:t> API REST con Java y </a:t>
            </a:r>
            <a:r>
              <a:rPr lang="en-US" dirty="0" err="1"/>
              <a:t>SpringBoot</a:t>
            </a:r>
            <a:r>
              <a:rPr lang="en-US" dirty="0"/>
              <a:t>, </a:t>
            </a:r>
            <a:r>
              <a:rPr lang="en-US" dirty="0" err="1"/>
              <a:t>creación</a:t>
            </a:r>
            <a:r>
              <a:rPr lang="en-US" dirty="0"/>
              <a:t> de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interfaz</a:t>
            </a:r>
            <a:r>
              <a:rPr lang="en-US" dirty="0"/>
              <a:t> web </a:t>
            </a:r>
            <a:r>
              <a:rPr lang="en-US" dirty="0" err="1"/>
              <a:t>dinámica</a:t>
            </a:r>
            <a:r>
              <a:rPr lang="en-US" dirty="0"/>
              <a:t> con JavaScript y control de </a:t>
            </a:r>
            <a:r>
              <a:rPr lang="en-US" dirty="0" err="1"/>
              <a:t>versiones</a:t>
            </a:r>
            <a:r>
              <a:rPr lang="en-US" dirty="0"/>
              <a:t> con Git.</a:t>
            </a:r>
          </a:p>
        </p:txBody>
      </p:sp>
      <p:pic>
        <p:nvPicPr>
          <p:cNvPr id="3" name="Picture 2" descr="🚀En XTART FP (Grupo UAX) nuestro equipo conecta talento y empleo  transformando vidas a través de la formación. | Paula P.">
            <a:extLst>
              <a:ext uri="{FF2B5EF4-FFF2-40B4-BE49-F238E27FC236}">
                <a16:creationId xmlns:a16="http://schemas.microsoft.com/office/drawing/2014/main" id="{6B5E22B1-D0E4-B96B-B0B8-0A78B4A3F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2546" y="5692405"/>
            <a:ext cx="824208" cy="812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1AA5DCA-E124-86D8-6A3D-928B939DEB3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400" y="6170309"/>
            <a:ext cx="1081415" cy="33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928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F427B9-E1A1-41FD-5D3D-9E9D9B8860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4477814"/>
            <a:ext cx="9440034" cy="1017059"/>
          </a:xfrm>
        </p:spPr>
        <p:txBody>
          <a:bodyPr>
            <a:normAutofit/>
          </a:bodyPr>
          <a:lstStyle/>
          <a:p>
            <a:r>
              <a:rPr lang="es-ES" sz="4800"/>
              <a:t>Gracias</a:t>
            </a:r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DF7499A7-D996-866D-AD2E-21B8D3CB45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3378" y="1064806"/>
            <a:ext cx="2782808" cy="2782808"/>
          </a:xfrm>
          <a:prstGeom prst="rect">
            <a:avLst/>
          </a:prstGeom>
        </p:spPr>
      </p:pic>
      <p:pic>
        <p:nvPicPr>
          <p:cNvPr id="3" name="Picture 2" descr="🚀En XTART FP (Grupo UAX) nuestro equipo conecta talento y empleo  transformando vidas a través de la formación. | Paula P.">
            <a:extLst>
              <a:ext uri="{FF2B5EF4-FFF2-40B4-BE49-F238E27FC236}">
                <a16:creationId xmlns:a16="http://schemas.microsoft.com/office/drawing/2014/main" id="{0DD194ED-3128-71D0-9EDB-223C734461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2546" y="5680830"/>
            <a:ext cx="824208" cy="812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2DFD9ABB-01E2-C850-F847-E39E0686D999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400" y="6158734"/>
            <a:ext cx="1081415" cy="33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9504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izarra">
  <a:themeElements>
    <a:clrScheme name="Pizarra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Pizarra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izarr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Pizarra</Template>
  <TotalTime>743</TotalTime>
  <Words>858</Words>
  <Application>Microsoft Office PowerPoint</Application>
  <PresentationFormat>Panorámica</PresentationFormat>
  <Paragraphs>96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Calisto MT</vt:lpstr>
      <vt:lpstr>Wingdings 2</vt:lpstr>
      <vt:lpstr>Pizarra</vt:lpstr>
      <vt:lpstr>Proyecto 3º evaluación </vt:lpstr>
      <vt:lpstr>Que es LoveCode</vt:lpstr>
      <vt:lpstr>Tecnologías utilizadas </vt:lpstr>
      <vt:lpstr>Base de datos </vt:lpstr>
      <vt:lpstr>Backend </vt:lpstr>
      <vt:lpstr>Frontend </vt:lpstr>
      <vt:lpstr>Como se usa</vt:lpstr>
      <vt:lpstr>Entornos de desarrollo</vt:lpstr>
      <vt:lpstr>Sistemas informáticos </vt:lpstr>
      <vt:lpstr>Conclusión 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SERGIO RUIZ MONTESINOS</dc:creator>
  <cp:lastModifiedBy>SERGIO RUIZ MONTESINOS</cp:lastModifiedBy>
  <cp:revision>9</cp:revision>
  <dcterms:created xsi:type="dcterms:W3CDTF">2026-05-28T06:24:34Z</dcterms:created>
  <dcterms:modified xsi:type="dcterms:W3CDTF">2026-05-31T20:07:39Z</dcterms:modified>
</cp:coreProperties>
</file>